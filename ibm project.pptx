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AB721-0215-438B-BBCF-881F7E3FCA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F049D1A-7F49-4DD8-B833-C308F48727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6D7DC7E-C83D-4542-9E8B-A374D7022C90}"/>
              </a:ext>
            </a:extLst>
          </p:cNvPr>
          <p:cNvSpPr>
            <a:spLocks noGrp="1"/>
          </p:cNvSpPr>
          <p:nvPr>
            <p:ph type="dt" sz="half" idx="10"/>
          </p:nvPr>
        </p:nvSpPr>
        <p:spPr/>
        <p:txBody>
          <a:bodyPr/>
          <a:lstStyle/>
          <a:p>
            <a:fld id="{7B6309BB-A5EF-4E7E-A09F-677E5E62FDCF}" type="datetimeFigureOut">
              <a:rPr lang="en-IN" smtClean="0"/>
              <a:t>12-07-2026</a:t>
            </a:fld>
            <a:endParaRPr lang="en-IN"/>
          </a:p>
        </p:txBody>
      </p:sp>
      <p:sp>
        <p:nvSpPr>
          <p:cNvPr id="5" name="Footer Placeholder 4">
            <a:extLst>
              <a:ext uri="{FF2B5EF4-FFF2-40B4-BE49-F238E27FC236}">
                <a16:creationId xmlns:a16="http://schemas.microsoft.com/office/drawing/2014/main" id="{874740B8-2A5D-4A51-8F29-04889F799E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76C77B-205B-419F-8EAC-21FB15062830}"/>
              </a:ext>
            </a:extLst>
          </p:cNvPr>
          <p:cNvSpPr>
            <a:spLocks noGrp="1"/>
          </p:cNvSpPr>
          <p:nvPr>
            <p:ph type="sldNum" sz="quarter" idx="12"/>
          </p:nvPr>
        </p:nvSpPr>
        <p:spPr/>
        <p:txBody>
          <a:bodyPr/>
          <a:lstStyle/>
          <a:p>
            <a:fld id="{70265958-BD44-4EE7-9A33-E6D44972826B}" type="slidenum">
              <a:rPr lang="en-IN" smtClean="0"/>
              <a:t>‹#›</a:t>
            </a:fld>
            <a:endParaRPr lang="en-IN"/>
          </a:p>
        </p:txBody>
      </p:sp>
    </p:spTree>
    <p:extLst>
      <p:ext uri="{BB962C8B-B14F-4D97-AF65-F5344CB8AC3E}">
        <p14:creationId xmlns:p14="http://schemas.microsoft.com/office/powerpoint/2010/main" val="3708788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B1FA4-932A-491B-9443-5A0FD9E6FF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00ABB8-B5E9-4A84-88AE-99C209148EDA}"/>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0C75B6-139C-48DB-ACE3-DB831C97B37B}"/>
              </a:ext>
            </a:extLst>
          </p:cNvPr>
          <p:cNvSpPr>
            <a:spLocks noGrp="1"/>
          </p:cNvSpPr>
          <p:nvPr>
            <p:ph type="dt" sz="half" idx="10"/>
          </p:nvPr>
        </p:nvSpPr>
        <p:spPr/>
        <p:txBody>
          <a:bodyPr/>
          <a:lstStyle/>
          <a:p>
            <a:fld id="{7B6309BB-A5EF-4E7E-A09F-677E5E62FDCF}" type="datetimeFigureOut">
              <a:rPr lang="en-IN" smtClean="0"/>
              <a:t>12-07-2026</a:t>
            </a:fld>
            <a:endParaRPr lang="en-IN"/>
          </a:p>
        </p:txBody>
      </p:sp>
      <p:sp>
        <p:nvSpPr>
          <p:cNvPr id="5" name="Footer Placeholder 4">
            <a:extLst>
              <a:ext uri="{FF2B5EF4-FFF2-40B4-BE49-F238E27FC236}">
                <a16:creationId xmlns:a16="http://schemas.microsoft.com/office/drawing/2014/main" id="{9ED4A662-00C6-40C6-948A-2C1D6ABE40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BC3B89-26C0-451E-881A-E295EA8B8617}"/>
              </a:ext>
            </a:extLst>
          </p:cNvPr>
          <p:cNvSpPr>
            <a:spLocks noGrp="1"/>
          </p:cNvSpPr>
          <p:nvPr>
            <p:ph type="sldNum" sz="quarter" idx="12"/>
          </p:nvPr>
        </p:nvSpPr>
        <p:spPr/>
        <p:txBody>
          <a:bodyPr/>
          <a:lstStyle/>
          <a:p>
            <a:fld id="{70265958-BD44-4EE7-9A33-E6D44972826B}" type="slidenum">
              <a:rPr lang="en-IN" smtClean="0"/>
              <a:t>‹#›</a:t>
            </a:fld>
            <a:endParaRPr lang="en-IN"/>
          </a:p>
        </p:txBody>
      </p:sp>
    </p:spTree>
    <p:extLst>
      <p:ext uri="{BB962C8B-B14F-4D97-AF65-F5344CB8AC3E}">
        <p14:creationId xmlns:p14="http://schemas.microsoft.com/office/powerpoint/2010/main" val="2184757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F75AC-F1B0-4329-8C26-4B1605482C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788BAA4-1628-4CD4-BC95-268A6BBC3A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63B14BA-8B8E-473F-A8A6-9FDBDA8EC455}"/>
              </a:ext>
            </a:extLst>
          </p:cNvPr>
          <p:cNvSpPr>
            <a:spLocks noGrp="1"/>
          </p:cNvSpPr>
          <p:nvPr>
            <p:ph type="dt" sz="half" idx="10"/>
          </p:nvPr>
        </p:nvSpPr>
        <p:spPr/>
        <p:txBody>
          <a:bodyPr/>
          <a:lstStyle/>
          <a:p>
            <a:fld id="{7B6309BB-A5EF-4E7E-A09F-677E5E62FDCF}" type="datetimeFigureOut">
              <a:rPr lang="en-IN" smtClean="0"/>
              <a:t>12-07-2026</a:t>
            </a:fld>
            <a:endParaRPr lang="en-IN"/>
          </a:p>
        </p:txBody>
      </p:sp>
      <p:sp>
        <p:nvSpPr>
          <p:cNvPr id="5" name="Footer Placeholder 4">
            <a:extLst>
              <a:ext uri="{FF2B5EF4-FFF2-40B4-BE49-F238E27FC236}">
                <a16:creationId xmlns:a16="http://schemas.microsoft.com/office/drawing/2014/main" id="{CCF5A593-3E48-41A4-93D9-26F2950AF7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76F84D-C2AF-4496-8139-D2260533E7FE}"/>
              </a:ext>
            </a:extLst>
          </p:cNvPr>
          <p:cNvSpPr>
            <a:spLocks noGrp="1"/>
          </p:cNvSpPr>
          <p:nvPr>
            <p:ph type="sldNum" sz="quarter" idx="12"/>
          </p:nvPr>
        </p:nvSpPr>
        <p:spPr/>
        <p:txBody>
          <a:bodyPr/>
          <a:lstStyle/>
          <a:p>
            <a:fld id="{70265958-BD44-4EE7-9A33-E6D44972826B}" type="slidenum">
              <a:rPr lang="en-IN" smtClean="0"/>
              <a:t>‹#›</a:t>
            </a:fld>
            <a:endParaRPr lang="en-IN"/>
          </a:p>
        </p:txBody>
      </p:sp>
    </p:spTree>
    <p:extLst>
      <p:ext uri="{BB962C8B-B14F-4D97-AF65-F5344CB8AC3E}">
        <p14:creationId xmlns:p14="http://schemas.microsoft.com/office/powerpoint/2010/main" val="28333785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C4D99-A23C-4D8A-977D-ECCCADDC139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1325859-4408-4DEC-B8FA-262621C206D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8662A6C-1D53-4899-83F2-D72552E08A8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83196A0-9080-4578-A102-FB2DD2A475ED}"/>
              </a:ext>
            </a:extLst>
          </p:cNvPr>
          <p:cNvSpPr>
            <a:spLocks noGrp="1"/>
          </p:cNvSpPr>
          <p:nvPr>
            <p:ph type="dt" sz="half" idx="10"/>
          </p:nvPr>
        </p:nvSpPr>
        <p:spPr/>
        <p:txBody>
          <a:bodyPr/>
          <a:lstStyle/>
          <a:p>
            <a:fld id="{7B6309BB-A5EF-4E7E-A09F-677E5E62FDCF}" type="datetimeFigureOut">
              <a:rPr lang="en-IN" smtClean="0"/>
              <a:t>12-07-2026</a:t>
            </a:fld>
            <a:endParaRPr lang="en-IN"/>
          </a:p>
        </p:txBody>
      </p:sp>
      <p:sp>
        <p:nvSpPr>
          <p:cNvPr id="6" name="Footer Placeholder 5">
            <a:extLst>
              <a:ext uri="{FF2B5EF4-FFF2-40B4-BE49-F238E27FC236}">
                <a16:creationId xmlns:a16="http://schemas.microsoft.com/office/drawing/2014/main" id="{1DD3CB7A-54BE-49F3-B86F-0ADFF5767F4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BBEC3A-9C10-4E3E-B5E6-BAFDA11D7D83}"/>
              </a:ext>
            </a:extLst>
          </p:cNvPr>
          <p:cNvSpPr>
            <a:spLocks noGrp="1"/>
          </p:cNvSpPr>
          <p:nvPr>
            <p:ph type="sldNum" sz="quarter" idx="12"/>
          </p:nvPr>
        </p:nvSpPr>
        <p:spPr/>
        <p:txBody>
          <a:bodyPr/>
          <a:lstStyle/>
          <a:p>
            <a:fld id="{70265958-BD44-4EE7-9A33-E6D44972826B}" type="slidenum">
              <a:rPr lang="en-IN" smtClean="0"/>
              <a:t>‹#›</a:t>
            </a:fld>
            <a:endParaRPr lang="en-IN"/>
          </a:p>
        </p:txBody>
      </p:sp>
    </p:spTree>
    <p:extLst>
      <p:ext uri="{BB962C8B-B14F-4D97-AF65-F5344CB8AC3E}">
        <p14:creationId xmlns:p14="http://schemas.microsoft.com/office/powerpoint/2010/main" val="21503585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F76FC-AB3A-4143-AB30-A4DE729F909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46D1BDD-77F7-4047-AC77-8950A43964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DD4147D-F03B-4683-AF07-C12D3E10BB8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CB0ADC5-4A20-4578-A007-413251279A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96FD50E-82D4-4870-8358-618DCA9F24C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4818112-07E7-4CD0-A7F5-161E5546C4A5}"/>
              </a:ext>
            </a:extLst>
          </p:cNvPr>
          <p:cNvSpPr>
            <a:spLocks noGrp="1"/>
          </p:cNvSpPr>
          <p:nvPr>
            <p:ph type="dt" sz="half" idx="10"/>
          </p:nvPr>
        </p:nvSpPr>
        <p:spPr/>
        <p:txBody>
          <a:bodyPr/>
          <a:lstStyle/>
          <a:p>
            <a:fld id="{7B6309BB-A5EF-4E7E-A09F-677E5E62FDCF}" type="datetimeFigureOut">
              <a:rPr lang="en-IN" smtClean="0"/>
              <a:t>12-07-2026</a:t>
            </a:fld>
            <a:endParaRPr lang="en-IN"/>
          </a:p>
        </p:txBody>
      </p:sp>
      <p:sp>
        <p:nvSpPr>
          <p:cNvPr id="8" name="Footer Placeholder 7">
            <a:extLst>
              <a:ext uri="{FF2B5EF4-FFF2-40B4-BE49-F238E27FC236}">
                <a16:creationId xmlns:a16="http://schemas.microsoft.com/office/drawing/2014/main" id="{B41583A2-4217-4FCE-B186-AE14DDB7AFB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07EB2BE-7F85-4788-8DD7-30722A7D30F6}"/>
              </a:ext>
            </a:extLst>
          </p:cNvPr>
          <p:cNvSpPr>
            <a:spLocks noGrp="1"/>
          </p:cNvSpPr>
          <p:nvPr>
            <p:ph type="sldNum" sz="quarter" idx="12"/>
          </p:nvPr>
        </p:nvSpPr>
        <p:spPr/>
        <p:txBody>
          <a:bodyPr/>
          <a:lstStyle/>
          <a:p>
            <a:fld id="{70265958-BD44-4EE7-9A33-E6D44972826B}" type="slidenum">
              <a:rPr lang="en-IN" smtClean="0"/>
              <a:t>‹#›</a:t>
            </a:fld>
            <a:endParaRPr lang="en-IN"/>
          </a:p>
        </p:txBody>
      </p:sp>
    </p:spTree>
    <p:extLst>
      <p:ext uri="{BB962C8B-B14F-4D97-AF65-F5344CB8AC3E}">
        <p14:creationId xmlns:p14="http://schemas.microsoft.com/office/powerpoint/2010/main" val="1223894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9FA4B-0F5F-4E37-A1D7-DB126A6741E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129ADE-3121-416F-A998-DC74992B55A7}"/>
              </a:ext>
            </a:extLst>
          </p:cNvPr>
          <p:cNvSpPr>
            <a:spLocks noGrp="1"/>
          </p:cNvSpPr>
          <p:nvPr>
            <p:ph type="dt" sz="half" idx="10"/>
          </p:nvPr>
        </p:nvSpPr>
        <p:spPr/>
        <p:txBody>
          <a:bodyPr/>
          <a:lstStyle/>
          <a:p>
            <a:fld id="{7B6309BB-A5EF-4E7E-A09F-677E5E62FDCF}" type="datetimeFigureOut">
              <a:rPr lang="en-IN" smtClean="0"/>
              <a:t>12-07-2026</a:t>
            </a:fld>
            <a:endParaRPr lang="en-IN"/>
          </a:p>
        </p:txBody>
      </p:sp>
      <p:sp>
        <p:nvSpPr>
          <p:cNvPr id="4" name="Footer Placeholder 3">
            <a:extLst>
              <a:ext uri="{FF2B5EF4-FFF2-40B4-BE49-F238E27FC236}">
                <a16:creationId xmlns:a16="http://schemas.microsoft.com/office/drawing/2014/main" id="{A6C80F5C-2923-4358-9F22-C8E75C4CF40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5DAFC4B-FEE2-40C2-A178-4CAB87234557}"/>
              </a:ext>
            </a:extLst>
          </p:cNvPr>
          <p:cNvSpPr>
            <a:spLocks noGrp="1"/>
          </p:cNvSpPr>
          <p:nvPr>
            <p:ph type="sldNum" sz="quarter" idx="12"/>
          </p:nvPr>
        </p:nvSpPr>
        <p:spPr/>
        <p:txBody>
          <a:bodyPr/>
          <a:lstStyle/>
          <a:p>
            <a:fld id="{70265958-BD44-4EE7-9A33-E6D44972826B}" type="slidenum">
              <a:rPr lang="en-IN" smtClean="0"/>
              <a:t>‹#›</a:t>
            </a:fld>
            <a:endParaRPr lang="en-IN"/>
          </a:p>
        </p:txBody>
      </p:sp>
    </p:spTree>
    <p:extLst>
      <p:ext uri="{BB962C8B-B14F-4D97-AF65-F5344CB8AC3E}">
        <p14:creationId xmlns:p14="http://schemas.microsoft.com/office/powerpoint/2010/main" val="27662326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B6A857-A0C7-4A63-A8F1-BB2D8D0AF687}"/>
              </a:ext>
            </a:extLst>
          </p:cNvPr>
          <p:cNvSpPr>
            <a:spLocks noGrp="1"/>
          </p:cNvSpPr>
          <p:nvPr>
            <p:ph type="dt" sz="half" idx="10"/>
          </p:nvPr>
        </p:nvSpPr>
        <p:spPr/>
        <p:txBody>
          <a:bodyPr/>
          <a:lstStyle/>
          <a:p>
            <a:fld id="{7B6309BB-A5EF-4E7E-A09F-677E5E62FDCF}" type="datetimeFigureOut">
              <a:rPr lang="en-IN" smtClean="0"/>
              <a:t>12-07-2026</a:t>
            </a:fld>
            <a:endParaRPr lang="en-IN"/>
          </a:p>
        </p:txBody>
      </p:sp>
      <p:sp>
        <p:nvSpPr>
          <p:cNvPr id="3" name="Footer Placeholder 2">
            <a:extLst>
              <a:ext uri="{FF2B5EF4-FFF2-40B4-BE49-F238E27FC236}">
                <a16:creationId xmlns:a16="http://schemas.microsoft.com/office/drawing/2014/main" id="{E8DC938D-CF39-4E20-B2EB-0EC566C2721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AD71069-A9D7-41D0-9300-EF40DF1341AB}"/>
              </a:ext>
            </a:extLst>
          </p:cNvPr>
          <p:cNvSpPr>
            <a:spLocks noGrp="1"/>
          </p:cNvSpPr>
          <p:nvPr>
            <p:ph type="sldNum" sz="quarter" idx="12"/>
          </p:nvPr>
        </p:nvSpPr>
        <p:spPr/>
        <p:txBody>
          <a:bodyPr/>
          <a:lstStyle/>
          <a:p>
            <a:fld id="{70265958-BD44-4EE7-9A33-E6D44972826B}" type="slidenum">
              <a:rPr lang="en-IN" smtClean="0"/>
              <a:t>‹#›</a:t>
            </a:fld>
            <a:endParaRPr lang="en-IN"/>
          </a:p>
        </p:txBody>
      </p:sp>
    </p:spTree>
    <p:extLst>
      <p:ext uri="{BB962C8B-B14F-4D97-AF65-F5344CB8AC3E}">
        <p14:creationId xmlns:p14="http://schemas.microsoft.com/office/powerpoint/2010/main" val="672123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5710E-A1D5-4B38-A2CB-4C84F40A6B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E74BD47-1210-48C1-B2D3-B653812EBA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013CE8F-2ACA-431C-A66D-AC726AFAD3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09C3903-5B21-4022-B3AF-69AF6E3108ED}"/>
              </a:ext>
            </a:extLst>
          </p:cNvPr>
          <p:cNvSpPr>
            <a:spLocks noGrp="1"/>
          </p:cNvSpPr>
          <p:nvPr>
            <p:ph type="dt" sz="half" idx="10"/>
          </p:nvPr>
        </p:nvSpPr>
        <p:spPr/>
        <p:txBody>
          <a:bodyPr/>
          <a:lstStyle/>
          <a:p>
            <a:fld id="{7B6309BB-A5EF-4E7E-A09F-677E5E62FDCF}" type="datetimeFigureOut">
              <a:rPr lang="en-IN" smtClean="0"/>
              <a:t>12-07-2026</a:t>
            </a:fld>
            <a:endParaRPr lang="en-IN"/>
          </a:p>
        </p:txBody>
      </p:sp>
      <p:sp>
        <p:nvSpPr>
          <p:cNvPr id="6" name="Footer Placeholder 5">
            <a:extLst>
              <a:ext uri="{FF2B5EF4-FFF2-40B4-BE49-F238E27FC236}">
                <a16:creationId xmlns:a16="http://schemas.microsoft.com/office/drawing/2014/main" id="{BE20E190-42A3-4DED-B803-64C4525539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D0512A-2569-4D9D-A91D-A1FBE6E3F53A}"/>
              </a:ext>
            </a:extLst>
          </p:cNvPr>
          <p:cNvSpPr>
            <a:spLocks noGrp="1"/>
          </p:cNvSpPr>
          <p:nvPr>
            <p:ph type="sldNum" sz="quarter" idx="12"/>
          </p:nvPr>
        </p:nvSpPr>
        <p:spPr/>
        <p:txBody>
          <a:bodyPr/>
          <a:lstStyle/>
          <a:p>
            <a:fld id="{70265958-BD44-4EE7-9A33-E6D44972826B}" type="slidenum">
              <a:rPr lang="en-IN" smtClean="0"/>
              <a:t>‹#›</a:t>
            </a:fld>
            <a:endParaRPr lang="en-IN"/>
          </a:p>
        </p:txBody>
      </p:sp>
    </p:spTree>
    <p:extLst>
      <p:ext uri="{BB962C8B-B14F-4D97-AF65-F5344CB8AC3E}">
        <p14:creationId xmlns:p14="http://schemas.microsoft.com/office/powerpoint/2010/main" val="626080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69F2-E6EB-49F9-B8E6-55AD0C534B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A617FFD-F457-473A-B7E6-4DD3603DA4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ED56579-D55F-43FB-A743-3C19E7BB15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5D30B94-8739-46ED-81D4-D1D34155538A}"/>
              </a:ext>
            </a:extLst>
          </p:cNvPr>
          <p:cNvSpPr>
            <a:spLocks noGrp="1"/>
          </p:cNvSpPr>
          <p:nvPr>
            <p:ph type="dt" sz="half" idx="10"/>
          </p:nvPr>
        </p:nvSpPr>
        <p:spPr/>
        <p:txBody>
          <a:bodyPr/>
          <a:lstStyle/>
          <a:p>
            <a:fld id="{7B6309BB-A5EF-4E7E-A09F-677E5E62FDCF}" type="datetimeFigureOut">
              <a:rPr lang="en-IN" smtClean="0"/>
              <a:t>12-07-2026</a:t>
            </a:fld>
            <a:endParaRPr lang="en-IN"/>
          </a:p>
        </p:txBody>
      </p:sp>
      <p:sp>
        <p:nvSpPr>
          <p:cNvPr id="6" name="Footer Placeholder 5">
            <a:extLst>
              <a:ext uri="{FF2B5EF4-FFF2-40B4-BE49-F238E27FC236}">
                <a16:creationId xmlns:a16="http://schemas.microsoft.com/office/drawing/2014/main" id="{CD7B8DC7-C968-41B5-80B5-A7F7F8F808B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FF08F2-BC97-40A3-980A-5054EDC31183}"/>
              </a:ext>
            </a:extLst>
          </p:cNvPr>
          <p:cNvSpPr>
            <a:spLocks noGrp="1"/>
          </p:cNvSpPr>
          <p:nvPr>
            <p:ph type="sldNum" sz="quarter" idx="12"/>
          </p:nvPr>
        </p:nvSpPr>
        <p:spPr/>
        <p:txBody>
          <a:bodyPr/>
          <a:lstStyle/>
          <a:p>
            <a:fld id="{70265958-BD44-4EE7-9A33-E6D44972826B}" type="slidenum">
              <a:rPr lang="en-IN" smtClean="0"/>
              <a:t>‹#›</a:t>
            </a:fld>
            <a:endParaRPr lang="en-IN"/>
          </a:p>
        </p:txBody>
      </p:sp>
    </p:spTree>
    <p:extLst>
      <p:ext uri="{BB962C8B-B14F-4D97-AF65-F5344CB8AC3E}">
        <p14:creationId xmlns:p14="http://schemas.microsoft.com/office/powerpoint/2010/main" val="2353351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15A86-CA25-4087-BEE1-4AF90487D57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71261C4-C315-4FD7-B32D-AC77FA27E6D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F9BEF6-8743-4780-B6D7-91B34CA2CB01}"/>
              </a:ext>
            </a:extLst>
          </p:cNvPr>
          <p:cNvSpPr>
            <a:spLocks noGrp="1"/>
          </p:cNvSpPr>
          <p:nvPr>
            <p:ph type="dt" sz="half" idx="10"/>
          </p:nvPr>
        </p:nvSpPr>
        <p:spPr/>
        <p:txBody>
          <a:bodyPr/>
          <a:lstStyle/>
          <a:p>
            <a:fld id="{7B6309BB-A5EF-4E7E-A09F-677E5E62FDCF}" type="datetimeFigureOut">
              <a:rPr lang="en-IN" smtClean="0"/>
              <a:t>12-07-2026</a:t>
            </a:fld>
            <a:endParaRPr lang="en-IN"/>
          </a:p>
        </p:txBody>
      </p:sp>
      <p:sp>
        <p:nvSpPr>
          <p:cNvPr id="5" name="Footer Placeholder 4">
            <a:extLst>
              <a:ext uri="{FF2B5EF4-FFF2-40B4-BE49-F238E27FC236}">
                <a16:creationId xmlns:a16="http://schemas.microsoft.com/office/drawing/2014/main" id="{72F17852-A29D-4923-AC00-D7813435BC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777EEC-3DF8-487D-B1A8-1297E0674C23}"/>
              </a:ext>
            </a:extLst>
          </p:cNvPr>
          <p:cNvSpPr>
            <a:spLocks noGrp="1"/>
          </p:cNvSpPr>
          <p:nvPr>
            <p:ph type="sldNum" sz="quarter" idx="12"/>
          </p:nvPr>
        </p:nvSpPr>
        <p:spPr/>
        <p:txBody>
          <a:bodyPr/>
          <a:lstStyle/>
          <a:p>
            <a:fld id="{70265958-BD44-4EE7-9A33-E6D44972826B}" type="slidenum">
              <a:rPr lang="en-IN" smtClean="0"/>
              <a:t>‹#›</a:t>
            </a:fld>
            <a:endParaRPr lang="en-IN"/>
          </a:p>
        </p:txBody>
      </p:sp>
    </p:spTree>
    <p:extLst>
      <p:ext uri="{BB962C8B-B14F-4D97-AF65-F5344CB8AC3E}">
        <p14:creationId xmlns:p14="http://schemas.microsoft.com/office/powerpoint/2010/main" val="3909491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6F1C21-CD0D-4CC1-9AD9-343CAA24F87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22F6C0-3B97-4D91-AEC2-289C5F45BC8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C59C1C-F7DC-4366-B7B1-E2398CE6749E}"/>
              </a:ext>
            </a:extLst>
          </p:cNvPr>
          <p:cNvSpPr>
            <a:spLocks noGrp="1"/>
          </p:cNvSpPr>
          <p:nvPr>
            <p:ph type="dt" sz="half" idx="10"/>
          </p:nvPr>
        </p:nvSpPr>
        <p:spPr/>
        <p:txBody>
          <a:bodyPr/>
          <a:lstStyle/>
          <a:p>
            <a:fld id="{7B6309BB-A5EF-4E7E-A09F-677E5E62FDCF}" type="datetimeFigureOut">
              <a:rPr lang="en-IN" smtClean="0"/>
              <a:t>12-07-2026</a:t>
            </a:fld>
            <a:endParaRPr lang="en-IN"/>
          </a:p>
        </p:txBody>
      </p:sp>
      <p:sp>
        <p:nvSpPr>
          <p:cNvPr id="5" name="Footer Placeholder 4">
            <a:extLst>
              <a:ext uri="{FF2B5EF4-FFF2-40B4-BE49-F238E27FC236}">
                <a16:creationId xmlns:a16="http://schemas.microsoft.com/office/drawing/2014/main" id="{D1C3AD71-A91A-4A5C-A0D0-0FAFAB82E3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16E580-42C2-4036-A4A0-AB18015B32DE}"/>
              </a:ext>
            </a:extLst>
          </p:cNvPr>
          <p:cNvSpPr>
            <a:spLocks noGrp="1"/>
          </p:cNvSpPr>
          <p:nvPr>
            <p:ph type="sldNum" sz="quarter" idx="12"/>
          </p:nvPr>
        </p:nvSpPr>
        <p:spPr/>
        <p:txBody>
          <a:bodyPr/>
          <a:lstStyle/>
          <a:p>
            <a:fld id="{70265958-BD44-4EE7-9A33-E6D44972826B}" type="slidenum">
              <a:rPr lang="en-IN" smtClean="0"/>
              <a:t>‹#›</a:t>
            </a:fld>
            <a:endParaRPr lang="en-IN"/>
          </a:p>
        </p:txBody>
      </p:sp>
    </p:spTree>
    <p:extLst>
      <p:ext uri="{BB962C8B-B14F-4D97-AF65-F5344CB8AC3E}">
        <p14:creationId xmlns:p14="http://schemas.microsoft.com/office/powerpoint/2010/main" val="18683252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71A4A4-9745-40E1-8A58-F974CCED7E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E4F6B4B-1B7C-4599-8769-355C3EEB98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535DD7-B3AF-45D6-87F9-4CFA4EA80B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6309BB-A5EF-4E7E-A09F-677E5E62FDCF}" type="datetimeFigureOut">
              <a:rPr lang="en-IN" smtClean="0"/>
              <a:t>12-07-2026</a:t>
            </a:fld>
            <a:endParaRPr lang="en-IN"/>
          </a:p>
        </p:txBody>
      </p:sp>
      <p:sp>
        <p:nvSpPr>
          <p:cNvPr id="5" name="Footer Placeholder 4">
            <a:extLst>
              <a:ext uri="{FF2B5EF4-FFF2-40B4-BE49-F238E27FC236}">
                <a16:creationId xmlns:a16="http://schemas.microsoft.com/office/drawing/2014/main" id="{3C5217F2-2A50-49F1-B3B1-DD67CFDEAD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F14676F-D434-4339-BAF6-EB64CB025B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265958-BD44-4EE7-9A33-E6D44972826B}" type="slidenum">
              <a:rPr lang="en-IN" smtClean="0"/>
              <a:t>‹#›</a:t>
            </a:fld>
            <a:endParaRPr lang="en-IN"/>
          </a:p>
        </p:txBody>
      </p:sp>
    </p:spTree>
    <p:extLst>
      <p:ext uri="{BB962C8B-B14F-4D97-AF65-F5344CB8AC3E}">
        <p14:creationId xmlns:p14="http://schemas.microsoft.com/office/powerpoint/2010/main" val="7832166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224D1-6988-4A8C-8D49-FF197C0742C9}"/>
              </a:ext>
            </a:extLst>
          </p:cNvPr>
          <p:cNvSpPr>
            <a:spLocks noGrp="1"/>
          </p:cNvSpPr>
          <p:nvPr>
            <p:ph type="ctrTitle"/>
          </p:nvPr>
        </p:nvSpPr>
        <p:spPr/>
        <p:txBody>
          <a:bodyPr>
            <a:normAutofit fontScale="90000"/>
          </a:bodyPr>
          <a:lstStyle/>
          <a:p>
            <a:br>
              <a:rPr lang="en-IN" b="1" dirty="0"/>
            </a:br>
            <a:br>
              <a:rPr lang="en-IN" b="1" dirty="0"/>
            </a:br>
            <a:r>
              <a:rPr lang="en-IN" sz="3100" b="1" dirty="0">
                <a:latin typeface="Arial" panose="020B0604020202020204" pitchFamily="34" charset="0"/>
                <a:cs typeface="Arial" panose="020B0604020202020204" pitchFamily="34" charset="0"/>
              </a:rPr>
              <a:t>IBM University Engagement Project Submission</a:t>
            </a:r>
            <a:endParaRPr lang="en-IN" sz="3100"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38B73AE6-C17A-410A-B51C-F7ACDB0ADE1B}"/>
              </a:ext>
            </a:extLst>
          </p:cNvPr>
          <p:cNvSpPr>
            <a:spLocks noGrp="1"/>
          </p:cNvSpPr>
          <p:nvPr>
            <p:ph type="subTitle" idx="1"/>
          </p:nvPr>
        </p:nvSpPr>
        <p:spPr/>
        <p:txBody>
          <a:bodyPr/>
          <a:lstStyle/>
          <a:p>
            <a:r>
              <a:rPr lang="en-US" b="1" i="1" dirty="0">
                <a:solidFill>
                  <a:srgbClr val="888888"/>
                </a:solidFill>
                <a:latin typeface="Arial" panose="020B0604020202020204" pitchFamily="34" charset="0"/>
                <a:cs typeface="Arial" panose="020B0604020202020204" pitchFamily="34" charset="0"/>
              </a:rPr>
              <a:t>“Exploring the Power of Agentic AI with IBM Granite ”</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10163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812503B-3155-4718-A8A3-AE5D3C0F3773}"/>
              </a:ext>
            </a:extLst>
          </p:cNvPr>
          <p:cNvSpPr txBox="1"/>
          <p:nvPr/>
        </p:nvSpPr>
        <p:spPr>
          <a:xfrm>
            <a:off x="666750" y="1112818"/>
            <a:ext cx="10858499" cy="954107"/>
          </a:xfrm>
          <a:prstGeom prst="rect">
            <a:avLst/>
          </a:prstGeom>
          <a:noFill/>
          <a:ln w="28575">
            <a:solidFill>
              <a:schemeClr val="tx1"/>
            </a:solidFill>
          </a:ln>
        </p:spPr>
        <p:txBody>
          <a:bodyPr wrap="square" rtlCol="0">
            <a:spAutoFit/>
          </a:bodyPr>
          <a:lstStyle/>
          <a:p>
            <a:pPr algn="ctr"/>
            <a:r>
              <a:rPr lang="en-IN" sz="2800" b="1" dirty="0">
                <a:latin typeface="Arial" panose="020B0604020202020204" pitchFamily="34" charset="0"/>
                <a:cs typeface="Arial" panose="020B0604020202020204" pitchFamily="34" charset="0"/>
              </a:rPr>
              <a:t>Project Title: AI Agent for Chronic diseases </a:t>
            </a:r>
            <a:r>
              <a:rPr lang="en-IN" sz="2800" b="1" dirty="0" err="1">
                <a:latin typeface="Arial" panose="020B0604020202020204" pitchFamily="34" charset="0"/>
                <a:cs typeface="Arial" panose="020B0604020202020204" pitchFamily="34" charset="0"/>
              </a:rPr>
              <a:t>Monitering</a:t>
            </a:r>
            <a:endParaRPr lang="en-IN" sz="2800" b="1" dirty="0">
              <a:latin typeface="Arial" panose="020B0604020202020204" pitchFamily="34" charset="0"/>
              <a:cs typeface="Arial" panose="020B0604020202020204" pitchFamily="34" charset="0"/>
            </a:endParaRPr>
          </a:p>
          <a:p>
            <a:pPr algn="ctr"/>
            <a:r>
              <a:rPr lang="en-IN" sz="2800" b="1" dirty="0">
                <a:latin typeface="Arial" panose="020B0604020202020204" pitchFamily="34" charset="0"/>
                <a:cs typeface="Arial" panose="020B0604020202020204" pitchFamily="34" charset="0"/>
              </a:rPr>
              <a:t>Domain of Project: HEALTHCARE </a:t>
            </a:r>
          </a:p>
        </p:txBody>
      </p:sp>
      <p:graphicFrame>
        <p:nvGraphicFramePr>
          <p:cNvPr id="5" name="Table 4">
            <a:extLst>
              <a:ext uri="{FF2B5EF4-FFF2-40B4-BE49-F238E27FC236}">
                <a16:creationId xmlns:a16="http://schemas.microsoft.com/office/drawing/2014/main" id="{5471C26D-4129-4B71-ADB9-02A5BDD75375}"/>
              </a:ext>
            </a:extLst>
          </p:cNvPr>
          <p:cNvGraphicFramePr>
            <a:graphicFrameLocks noGrp="1"/>
          </p:cNvGraphicFramePr>
          <p:nvPr>
            <p:extLst>
              <p:ext uri="{D42A27DB-BD31-4B8C-83A1-F6EECF244321}">
                <p14:modId xmlns:p14="http://schemas.microsoft.com/office/powerpoint/2010/main" val="2135308856"/>
              </p:ext>
            </p:extLst>
          </p:nvPr>
        </p:nvGraphicFramePr>
        <p:xfrm>
          <a:off x="504826" y="2434113"/>
          <a:ext cx="11182348" cy="3042762"/>
        </p:xfrm>
        <a:graphic>
          <a:graphicData uri="http://schemas.openxmlformats.org/drawingml/2006/table">
            <a:tbl>
              <a:tblPr firstRow="1" bandRow="1">
                <a:tableStyleId>{5C22544A-7EE6-4342-B048-85BDC9FD1C3A}</a:tableStyleId>
              </a:tblPr>
              <a:tblGrid>
                <a:gridCol w="2795587">
                  <a:extLst>
                    <a:ext uri="{9D8B030D-6E8A-4147-A177-3AD203B41FA5}">
                      <a16:colId xmlns:a16="http://schemas.microsoft.com/office/drawing/2014/main" val="3082141275"/>
                    </a:ext>
                  </a:extLst>
                </a:gridCol>
                <a:gridCol w="2795587">
                  <a:extLst>
                    <a:ext uri="{9D8B030D-6E8A-4147-A177-3AD203B41FA5}">
                      <a16:colId xmlns:a16="http://schemas.microsoft.com/office/drawing/2014/main" val="2476838166"/>
                    </a:ext>
                  </a:extLst>
                </a:gridCol>
                <a:gridCol w="2795587">
                  <a:extLst>
                    <a:ext uri="{9D8B030D-6E8A-4147-A177-3AD203B41FA5}">
                      <a16:colId xmlns:a16="http://schemas.microsoft.com/office/drawing/2014/main" val="1128498837"/>
                    </a:ext>
                  </a:extLst>
                </a:gridCol>
                <a:gridCol w="2795587">
                  <a:extLst>
                    <a:ext uri="{9D8B030D-6E8A-4147-A177-3AD203B41FA5}">
                      <a16:colId xmlns:a16="http://schemas.microsoft.com/office/drawing/2014/main" val="288791129"/>
                    </a:ext>
                  </a:extLst>
                </a:gridCol>
              </a:tblGrid>
              <a:tr h="1193412">
                <a:tc>
                  <a:txBody>
                    <a:bodyPr/>
                    <a:lstStyle/>
                    <a:p>
                      <a:pPr algn="ctr"/>
                      <a:r>
                        <a:rPr lang="en-IN" sz="2000" dirty="0">
                          <a:latin typeface="Arial" panose="020B0604020202020204" pitchFamily="34" charset="0"/>
                          <a:cs typeface="Arial" panose="020B0604020202020204" pitchFamily="34" charset="0"/>
                        </a:rPr>
                        <a:t>Student Name</a:t>
                      </a:r>
                    </a:p>
                  </a:txBody>
                  <a:tcPr anchor="ctr"/>
                </a:tc>
                <a:tc>
                  <a:txBody>
                    <a:bodyPr/>
                    <a:lstStyle/>
                    <a:p>
                      <a:pPr algn="ctr"/>
                      <a:r>
                        <a:rPr lang="en-IN" sz="2000" dirty="0">
                          <a:latin typeface="Arial" panose="020B0604020202020204" pitchFamily="34" charset="0"/>
                          <a:cs typeface="Arial" panose="020B0604020202020204" pitchFamily="34" charset="0"/>
                        </a:rPr>
                        <a:t>Passport Size Photo</a:t>
                      </a:r>
                    </a:p>
                  </a:txBody>
                  <a:tcPr anchor="ctr"/>
                </a:tc>
                <a:tc>
                  <a:txBody>
                    <a:bodyPr/>
                    <a:lstStyle/>
                    <a:p>
                      <a:pPr algn="ctr"/>
                      <a:r>
                        <a:rPr lang="en-IN" sz="2000" dirty="0">
                          <a:latin typeface="Arial" panose="020B0604020202020204" pitchFamily="34" charset="0"/>
                          <a:cs typeface="Arial" panose="020B0604020202020204" pitchFamily="34" charset="0"/>
                        </a:rPr>
                        <a:t>Email ID</a:t>
                      </a:r>
                    </a:p>
                  </a:txBody>
                  <a:tcPr anchor="ctr"/>
                </a:tc>
                <a:tc>
                  <a:txBody>
                    <a:bodyPr/>
                    <a:lstStyle/>
                    <a:p>
                      <a:pPr algn="ctr"/>
                      <a:r>
                        <a:rPr lang="en-IN" sz="2000" dirty="0">
                          <a:latin typeface="Arial" panose="020B0604020202020204" pitchFamily="34" charset="0"/>
                          <a:cs typeface="Arial" panose="020B0604020202020204" pitchFamily="34" charset="0"/>
                        </a:rPr>
                        <a:t>Mobile Number</a:t>
                      </a:r>
                    </a:p>
                    <a:p>
                      <a:pPr algn="ctr"/>
                      <a:r>
                        <a:rPr lang="en-IN" sz="2000" dirty="0">
                          <a:latin typeface="Arial" panose="020B0604020202020204" pitchFamily="34" charset="0"/>
                          <a:cs typeface="Arial" panose="020B0604020202020204" pitchFamily="34" charset="0"/>
                        </a:rPr>
                        <a:t>(WhatsApp)</a:t>
                      </a:r>
                    </a:p>
                  </a:txBody>
                  <a:tcPr anchor="ctr"/>
                </a:tc>
                <a:extLst>
                  <a:ext uri="{0D108BD9-81ED-4DB2-BD59-A6C34878D82A}">
                    <a16:rowId xmlns:a16="http://schemas.microsoft.com/office/drawing/2014/main" val="3548574904"/>
                  </a:ext>
                </a:extLst>
              </a:tr>
              <a:tr h="1849350">
                <a:tc>
                  <a:txBody>
                    <a:bodyPr/>
                    <a:lstStyle/>
                    <a:p>
                      <a:pPr algn="ctr"/>
                      <a:r>
                        <a:rPr lang="en-IN" sz="2000" dirty="0">
                          <a:latin typeface="Arial" panose="020B0604020202020204" pitchFamily="34" charset="0"/>
                          <a:cs typeface="Arial" panose="020B0604020202020204" pitchFamily="34" charset="0"/>
                        </a:rPr>
                        <a:t>Sanskruti Santosh Pallod</a:t>
                      </a:r>
                    </a:p>
                  </a:txBody>
                  <a:tcPr anchor="ctr"/>
                </a:tc>
                <a:tc>
                  <a:txBody>
                    <a:bodyPr/>
                    <a:lstStyle/>
                    <a:p>
                      <a:endParaRPr lang="en-IN" sz="2000" dirty="0">
                        <a:latin typeface="Arial" panose="020B0604020202020204" pitchFamily="34" charset="0"/>
                        <a:cs typeface="Arial" panose="020B0604020202020204" pitchFamily="34" charset="0"/>
                      </a:endParaRPr>
                    </a:p>
                  </a:txBody>
                  <a:tcPr/>
                </a:tc>
                <a:tc>
                  <a:txBody>
                    <a:bodyPr/>
                    <a:lstStyle/>
                    <a:p>
                      <a:pPr algn="ctr"/>
                      <a:r>
                        <a:rPr lang="en-IN" sz="2000" dirty="0">
                          <a:latin typeface="Arial" panose="020B0604020202020204" pitchFamily="34" charset="0"/>
                          <a:cs typeface="Arial" panose="020B0604020202020204" pitchFamily="34" charset="0"/>
                        </a:rPr>
                        <a:t>pallodsanskruti@gmail.com</a:t>
                      </a:r>
                    </a:p>
                  </a:txBody>
                  <a:tcPr anchor="ctr"/>
                </a:tc>
                <a:tc>
                  <a:txBody>
                    <a:bodyPr/>
                    <a:lstStyle/>
                    <a:p>
                      <a:pPr algn="ctr"/>
                      <a:r>
                        <a:rPr lang="en-IN" sz="2000" dirty="0">
                          <a:latin typeface="Arial" panose="020B0604020202020204" pitchFamily="34" charset="0"/>
                          <a:cs typeface="Arial" panose="020B0604020202020204" pitchFamily="34" charset="0"/>
                        </a:rPr>
                        <a:t>7276179531</a:t>
                      </a:r>
                    </a:p>
                  </a:txBody>
                  <a:tcPr anchor="ctr"/>
                </a:tc>
                <a:extLst>
                  <a:ext uri="{0D108BD9-81ED-4DB2-BD59-A6C34878D82A}">
                    <a16:rowId xmlns:a16="http://schemas.microsoft.com/office/drawing/2014/main" val="2997884144"/>
                  </a:ext>
                </a:extLst>
              </a:tr>
            </a:tbl>
          </a:graphicData>
        </a:graphic>
      </p:graphicFrame>
      <p:pic>
        <p:nvPicPr>
          <p:cNvPr id="2" name="Picture 1">
            <a:extLst>
              <a:ext uri="{FF2B5EF4-FFF2-40B4-BE49-F238E27FC236}">
                <a16:creationId xmlns:a16="http://schemas.microsoft.com/office/drawing/2014/main" id="{0482319E-EE6D-4A74-A774-C5F79EDF587F}"/>
              </a:ext>
            </a:extLst>
          </p:cNvPr>
          <p:cNvPicPr>
            <a:picLocks noChangeAspect="1"/>
          </p:cNvPicPr>
          <p:nvPr/>
        </p:nvPicPr>
        <p:blipFill>
          <a:blip r:embed="rId2"/>
          <a:stretch>
            <a:fillRect/>
          </a:stretch>
        </p:blipFill>
        <p:spPr>
          <a:xfrm>
            <a:off x="3994078" y="3706247"/>
            <a:ext cx="1347922" cy="1684903"/>
          </a:xfrm>
          <a:prstGeom prst="rect">
            <a:avLst/>
          </a:prstGeom>
        </p:spPr>
      </p:pic>
    </p:spTree>
    <p:extLst>
      <p:ext uri="{BB962C8B-B14F-4D97-AF65-F5344CB8AC3E}">
        <p14:creationId xmlns:p14="http://schemas.microsoft.com/office/powerpoint/2010/main" val="1004455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B5F3211-AFE7-43BE-9070-C734F1567776}"/>
              </a:ext>
            </a:extLst>
          </p:cNvPr>
          <p:cNvSpPr txBox="1"/>
          <p:nvPr/>
        </p:nvSpPr>
        <p:spPr>
          <a:xfrm>
            <a:off x="280987" y="513873"/>
            <a:ext cx="11630025" cy="5570756"/>
          </a:xfrm>
          <a:prstGeom prst="rect">
            <a:avLst/>
          </a:prstGeom>
          <a:noFill/>
        </p:spPr>
        <p:txBody>
          <a:bodyPr wrap="square" rtlCol="0">
            <a:spAutoFit/>
          </a:bodyPr>
          <a:lstStyle/>
          <a:p>
            <a:pPr algn="just"/>
            <a:r>
              <a:rPr lang="en-US" sz="2800" b="1" dirty="0">
                <a:latin typeface="Arial" panose="020B0604020202020204" pitchFamily="34" charset="0"/>
                <a:cs typeface="Arial" panose="020B0604020202020204" pitchFamily="34" charset="0"/>
              </a:rPr>
              <a:t>Problem Statement </a:t>
            </a:r>
            <a:r>
              <a:rPr lang="en-US" sz="24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AI agent for chronic disease monitoring</a:t>
            </a:r>
          </a:p>
          <a:p>
            <a:pPr algn="just"/>
            <a:endParaRPr lang="en-US" sz="2000" dirty="0">
              <a:latin typeface="Arial" panose="020B0604020202020204" pitchFamily="34" charset="0"/>
              <a:cs typeface="Arial" panose="020B0604020202020204" pitchFamily="34" charset="0"/>
            </a:endParaRPr>
          </a:p>
          <a:p>
            <a:pPr algn="just"/>
            <a:r>
              <a:rPr lang="en-US" sz="2800" b="1" dirty="0">
                <a:latin typeface="Arial" panose="020B0604020202020204" pitchFamily="34" charset="0"/>
                <a:cs typeface="Arial" panose="020B0604020202020204" pitchFamily="34" charset="0"/>
              </a:rPr>
              <a:t>The Challenge </a:t>
            </a:r>
            <a:r>
              <a:rPr lang="en-US" sz="28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An AI agent for chronic disease monitoring helps patients and healthcare providers</a:t>
            </a:r>
          </a:p>
          <a:p>
            <a:pPr algn="just"/>
            <a:r>
              <a:rPr lang="en-US" sz="2000" dirty="0">
                <a:latin typeface="Arial" panose="020B0604020202020204" pitchFamily="34" charset="0"/>
                <a:cs typeface="Arial" panose="020B0604020202020204" pitchFamily="34" charset="0"/>
              </a:rPr>
              <a:t>manage long-term conditions effectively.</a:t>
            </a:r>
          </a:p>
          <a:p>
            <a:pPr algn="just"/>
            <a:r>
              <a:rPr lang="en-US" sz="2000" dirty="0">
                <a:latin typeface="Arial" panose="020B0604020202020204" pitchFamily="34" charset="0"/>
                <a:cs typeface="Arial" panose="020B0604020202020204" pitchFamily="34" charset="0"/>
              </a:rPr>
              <a:t>It continuously analyzes health data from wearables, medical records, and patient inputs to detect early</a:t>
            </a:r>
          </a:p>
          <a:p>
            <a:pPr algn="just"/>
            <a:r>
              <a:rPr lang="en-US" sz="2000" dirty="0">
                <a:latin typeface="Arial" panose="020B0604020202020204" pitchFamily="34" charset="0"/>
                <a:cs typeface="Arial" panose="020B0604020202020204" pitchFamily="34" charset="0"/>
              </a:rPr>
              <a:t>warning signs.</a:t>
            </a:r>
          </a:p>
          <a:p>
            <a:pPr algn="just"/>
            <a:r>
              <a:rPr lang="en-US" sz="2000" dirty="0">
                <a:latin typeface="Arial" panose="020B0604020202020204" pitchFamily="34" charset="0"/>
                <a:cs typeface="Arial" panose="020B0604020202020204" pitchFamily="34" charset="0"/>
              </a:rPr>
              <a:t>Using AI and predictive analytics, it offers personalized insights, medication reminders, and lifestyle</a:t>
            </a:r>
          </a:p>
          <a:p>
            <a:pPr algn="just"/>
            <a:r>
              <a:rPr lang="en-US" sz="2000" dirty="0">
                <a:latin typeface="Arial" panose="020B0604020202020204" pitchFamily="34" charset="0"/>
                <a:cs typeface="Arial" panose="020B0604020202020204" pitchFamily="34" charset="0"/>
              </a:rPr>
              <a:t>recommendations.</a:t>
            </a:r>
          </a:p>
          <a:p>
            <a:pPr algn="just"/>
            <a:r>
              <a:rPr lang="en-US" sz="2000" dirty="0">
                <a:latin typeface="Arial" panose="020B0604020202020204" pitchFamily="34" charset="0"/>
                <a:cs typeface="Arial" panose="020B0604020202020204" pitchFamily="34" charset="0"/>
              </a:rPr>
              <a:t>The agent supports diseases like diabetes, hypertension, and heart conditions with real-time monitoring</a:t>
            </a:r>
          </a:p>
          <a:p>
            <a:pPr algn="just"/>
            <a:r>
              <a:rPr lang="en-US" sz="2000" dirty="0">
                <a:latin typeface="Arial" panose="020B0604020202020204" pitchFamily="34" charset="0"/>
                <a:cs typeface="Arial" panose="020B0604020202020204" pitchFamily="34" charset="0"/>
              </a:rPr>
              <a:t>and alerts.</a:t>
            </a:r>
          </a:p>
          <a:p>
            <a:pPr algn="just"/>
            <a:r>
              <a:rPr lang="en-US" sz="2000" dirty="0">
                <a:latin typeface="Arial" panose="020B0604020202020204" pitchFamily="34" charset="0"/>
                <a:cs typeface="Arial" panose="020B0604020202020204" pitchFamily="34" charset="0"/>
              </a:rPr>
              <a:t>It enables proactive care, reduces hospital visits, and improves patient adherence to treatment plans.</a:t>
            </a:r>
          </a:p>
          <a:p>
            <a:pPr algn="just"/>
            <a:endParaRPr lang="en-US" sz="2000" dirty="0">
              <a:latin typeface="Arial" panose="020B0604020202020204" pitchFamily="34" charset="0"/>
              <a:cs typeface="Arial" panose="020B0604020202020204" pitchFamily="34" charset="0"/>
            </a:endParaRPr>
          </a:p>
          <a:p>
            <a:pPr algn="just"/>
            <a:r>
              <a:rPr lang="en-US" sz="2000" dirty="0">
                <a:latin typeface="Arial" panose="020B0604020202020204" pitchFamily="34" charset="0"/>
                <a:cs typeface="Arial" panose="020B0604020202020204" pitchFamily="34" charset="0"/>
              </a:rPr>
              <a:t>This intelligent assistant bridges the gap between patients and providers, enhancing chronic care</a:t>
            </a:r>
          </a:p>
          <a:p>
            <a:pPr algn="just"/>
            <a:r>
              <a:rPr lang="en-US" sz="2000" dirty="0">
                <a:latin typeface="Arial" panose="020B0604020202020204" pitchFamily="34" charset="0"/>
                <a:cs typeface="Arial" panose="020B0604020202020204" pitchFamily="34" charset="0"/>
              </a:rPr>
              <a:t>outcomes.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322361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A293CA-544E-4D15-A546-3F706D1B1801}"/>
              </a:ext>
            </a:extLst>
          </p:cNvPr>
          <p:cNvSpPr txBox="1"/>
          <p:nvPr/>
        </p:nvSpPr>
        <p:spPr>
          <a:xfrm>
            <a:off x="2628901" y="151179"/>
            <a:ext cx="8753474" cy="6617196"/>
          </a:xfrm>
          <a:prstGeom prst="rect">
            <a:avLst/>
          </a:prstGeom>
          <a:noFill/>
          <a:ln w="38100">
            <a:solidFill>
              <a:schemeClr val="tx1"/>
            </a:solidFill>
          </a:ln>
        </p:spPr>
        <p:txBody>
          <a:bodyPr wrap="square" rtlCol="0">
            <a:spAutoFit/>
          </a:bodyPr>
          <a:lstStyle/>
          <a:p>
            <a:pPr algn="ctr"/>
            <a:r>
              <a:rPr lang="en-IN" sz="2800" b="1" dirty="0">
                <a:latin typeface="Arial" panose="020B0604020202020204" pitchFamily="34" charset="0"/>
                <a:cs typeface="Arial" panose="020B0604020202020204" pitchFamily="34" charset="0"/>
              </a:rPr>
              <a:t>PROJECT STRUCTURE:-</a:t>
            </a:r>
          </a:p>
          <a:p>
            <a:pPr algn="ctr"/>
            <a:endParaRPr lang="en-IN" sz="2000" b="1" dirty="0"/>
          </a:p>
          <a:p>
            <a:r>
              <a:rPr lang="en-IN" sz="2000" b="1" dirty="0" err="1">
                <a:latin typeface="Arial" panose="020B0604020202020204" pitchFamily="34" charset="0"/>
                <a:cs typeface="Arial" panose="020B0604020202020204" pitchFamily="34" charset="0"/>
              </a:rPr>
              <a:t>CareGuard</a:t>
            </a:r>
            <a:r>
              <a:rPr lang="en-IN" sz="2000" b="1" dirty="0">
                <a:latin typeface="Arial" panose="020B0604020202020204" pitchFamily="34" charset="0"/>
                <a:cs typeface="Arial" panose="020B0604020202020204" pitchFamily="34" charset="0"/>
              </a:rPr>
              <a:t> AI</a:t>
            </a:r>
            <a:endParaRPr lang="en-IN" sz="2000" dirty="0">
              <a:latin typeface="Arial" panose="020B0604020202020204" pitchFamily="34" charset="0"/>
              <a:cs typeface="Arial" panose="020B0604020202020204" pitchFamily="34" charset="0"/>
            </a:endParaRPr>
          </a:p>
          <a:p>
            <a:r>
              <a:rPr lang="en-IN" sz="20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 app.py                  ← Flask entry point &amp; all routes</a:t>
            </a:r>
          </a:p>
          <a:p>
            <a:r>
              <a:rPr lang="en-IN" sz="20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 config.py               ← Environment config (reads .env)</a:t>
            </a:r>
          </a:p>
          <a:p>
            <a:r>
              <a:rPr lang="en-IN" sz="20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 agent_instructions.py   ← CUSTOMIZE AI behaviour here</a:t>
            </a:r>
          </a:p>
          <a:p>
            <a:r>
              <a:rPr lang="en-IN" sz="20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 models.py               ← Data models, health simulators, risk scorer</a:t>
            </a:r>
          </a:p>
          <a:p>
            <a:r>
              <a:rPr lang="en-IN" sz="20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 watsonx_client.py       ← IBM Watsonx.ai / Granite integration</a:t>
            </a:r>
          </a:p>
          <a:p>
            <a:r>
              <a:rPr lang="en-IN" sz="20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 requirements.txt</a:t>
            </a:r>
          </a:p>
          <a:p>
            <a:r>
              <a:rPr lang="en-IN" sz="20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 .</a:t>
            </a:r>
            <a:r>
              <a:rPr lang="en-IN" sz="2000" dirty="0" err="1">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env.example</a:t>
            </a:r>
            <a:r>
              <a:rPr lang="en-IN" sz="20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            ← Copy to .env and fill in credentials</a:t>
            </a:r>
          </a:p>
          <a:p>
            <a:r>
              <a:rPr lang="en-IN" sz="20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 templates/</a:t>
            </a:r>
          </a:p>
          <a:p>
            <a:r>
              <a:rPr lang="en-IN" sz="20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   ├── base.html           ← Shared layout (navbar, footer, theme)</a:t>
            </a:r>
          </a:p>
          <a:p>
            <a:r>
              <a:rPr lang="en-IN" sz="20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   ├── dashboard.html      ← Main health dashboard</a:t>
            </a:r>
          </a:p>
          <a:p>
            <a:r>
              <a:rPr lang="en-IN" sz="20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   ├── chat.html           ← AI chat interface</a:t>
            </a:r>
          </a:p>
          <a:p>
            <a:r>
              <a:rPr lang="en-IN" sz="20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   ├── patient_profile.html← Patient information form</a:t>
            </a:r>
          </a:p>
          <a:p>
            <a:r>
              <a:rPr lang="en-IN" sz="20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   ├── medications.html    ← Medication tracker</a:t>
            </a:r>
          </a:p>
          <a:p>
            <a:r>
              <a:rPr lang="en-IN" sz="20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   ├── caregivers.html     ← Family / care team</a:t>
            </a:r>
          </a:p>
          <a:p>
            <a:r>
              <a:rPr lang="en-IN" sz="20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   └── error.html</a:t>
            </a:r>
          </a:p>
          <a:p>
            <a:r>
              <a:rPr lang="en-IN" sz="20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 static/</a:t>
            </a:r>
          </a:p>
          <a:p>
            <a:r>
              <a:rPr lang="en-IN" sz="20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    ├── </a:t>
            </a:r>
            <a:r>
              <a:rPr lang="en-IN" sz="2000" dirty="0" err="1">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css</a:t>
            </a:r>
            <a:r>
              <a:rPr lang="en-IN" sz="20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/style.css       ← All styles (light + dark theme)</a:t>
            </a:r>
          </a:p>
          <a:p>
            <a:r>
              <a:rPr lang="en-IN" sz="20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    └── </a:t>
            </a:r>
            <a:r>
              <a:rPr lang="en-IN" sz="2000" dirty="0" err="1">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js</a:t>
            </a:r>
            <a:r>
              <a:rPr lang="en-IN" sz="20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/app.js           ← Theme toggle, toasts, markdown renderer</a:t>
            </a:r>
            <a:endParaRPr lang="en-IN"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23486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7A34918E-6751-4D00-8967-C261CF59849C}"/>
              </a:ext>
            </a:extLst>
          </p:cNvPr>
          <p:cNvSpPr txBox="1"/>
          <p:nvPr/>
        </p:nvSpPr>
        <p:spPr>
          <a:xfrm>
            <a:off x="819150" y="352425"/>
            <a:ext cx="10791825" cy="2031325"/>
          </a:xfrm>
          <a:prstGeom prst="rect">
            <a:avLst/>
          </a:prstGeom>
          <a:noFill/>
          <a:ln w="19050">
            <a:noFill/>
          </a:ln>
        </p:spPr>
        <p:txBody>
          <a:bodyPr wrap="square" rtlCol="0">
            <a:spAutoFit/>
          </a:bodyPr>
          <a:lstStyle/>
          <a:p>
            <a:pPr algn="just"/>
            <a:r>
              <a:rPr lang="en-IN" sz="2800" b="1" dirty="0">
                <a:latin typeface="Arial" panose="020B0604020202020204" pitchFamily="34" charset="0"/>
                <a:cs typeface="Arial" panose="020B0604020202020204" pitchFamily="34" charset="0"/>
              </a:rPr>
              <a:t>Proposed Solution:</a:t>
            </a:r>
            <a:endParaRPr lang="en-IN" sz="2800" dirty="0">
              <a:latin typeface="Arial" panose="020B0604020202020204" pitchFamily="34" charset="0"/>
              <a:cs typeface="Arial" panose="020B0604020202020204" pitchFamily="34" charset="0"/>
            </a:endParaRPr>
          </a:p>
          <a:p>
            <a:pPr algn="just"/>
            <a:r>
              <a:rPr lang="en-US" sz="2000" dirty="0">
                <a:latin typeface="Arial" panose="020B0604020202020204" pitchFamily="34" charset="0"/>
                <a:cs typeface="Arial" panose="020B0604020202020204" pitchFamily="34" charset="0"/>
              </a:rPr>
              <a:t>The core thesis of </a:t>
            </a:r>
            <a:r>
              <a:rPr lang="en-US" sz="2000" dirty="0" err="1">
                <a:latin typeface="Arial" panose="020B0604020202020204" pitchFamily="34" charset="0"/>
                <a:cs typeface="Arial" panose="020B0604020202020204" pitchFamily="34" charset="0"/>
              </a:rPr>
              <a:t>CareGuard</a:t>
            </a:r>
            <a:r>
              <a:rPr lang="en-US" sz="2000" dirty="0">
                <a:latin typeface="Arial" panose="020B0604020202020204" pitchFamily="34" charset="0"/>
                <a:cs typeface="Arial" panose="020B0604020202020204" pitchFamily="34" charset="0"/>
              </a:rPr>
              <a:t> AI is that continuous, AI-augmented monitoring between clinical visits can reduce preventable acute events in chronic disease patients, improve long-term medication adherence, and empower patients with actionable, </a:t>
            </a:r>
            <a:r>
              <a:rPr lang="en-US" sz="2000" dirty="0" err="1">
                <a:latin typeface="Arial" panose="020B0604020202020204" pitchFamily="34" charset="0"/>
                <a:cs typeface="Arial" panose="020B0604020202020204" pitchFamily="34" charset="0"/>
              </a:rPr>
              <a:t>personalised</a:t>
            </a:r>
            <a:r>
              <a:rPr lang="en-US" sz="2000" dirty="0">
                <a:latin typeface="Arial" panose="020B0604020202020204" pitchFamily="34" charset="0"/>
                <a:cs typeface="Arial" panose="020B0604020202020204" pitchFamily="34" charset="0"/>
              </a:rPr>
              <a:t> health guidance — without requiring hospital infrastructure or continuous physician involvement.</a:t>
            </a:r>
            <a:endParaRPr lang="en-IN" sz="2000" dirty="0">
              <a:latin typeface="Arial" panose="020B0604020202020204" pitchFamily="34" charset="0"/>
              <a:cs typeface="Arial" panose="020B0604020202020204" pitchFamily="34" charset="0"/>
            </a:endParaRPr>
          </a:p>
          <a:p>
            <a:endParaRPr lang="en-IN" dirty="0"/>
          </a:p>
        </p:txBody>
      </p:sp>
      <p:sp>
        <p:nvSpPr>
          <p:cNvPr id="10" name="TextBox 9">
            <a:extLst>
              <a:ext uri="{FF2B5EF4-FFF2-40B4-BE49-F238E27FC236}">
                <a16:creationId xmlns:a16="http://schemas.microsoft.com/office/drawing/2014/main" id="{65294369-F02E-4ADD-9B58-79BE73702C31}"/>
              </a:ext>
            </a:extLst>
          </p:cNvPr>
          <p:cNvSpPr txBox="1"/>
          <p:nvPr/>
        </p:nvSpPr>
        <p:spPr>
          <a:xfrm>
            <a:off x="752475" y="2212300"/>
            <a:ext cx="10858500" cy="4801314"/>
          </a:xfrm>
          <a:prstGeom prst="rect">
            <a:avLst/>
          </a:prstGeom>
          <a:noFill/>
        </p:spPr>
        <p:txBody>
          <a:bodyPr wrap="square" rtlCol="0">
            <a:spAutoFit/>
          </a:bodyPr>
          <a:lstStyle/>
          <a:p>
            <a:r>
              <a:rPr lang="en-IN" sz="2800" b="1" dirty="0" err="1">
                <a:latin typeface="Arial" panose="020B0604020202020204" pitchFamily="34" charset="0"/>
                <a:cs typeface="Arial" panose="020B0604020202020204" pitchFamily="34" charset="0"/>
              </a:rPr>
              <a:t>Overveiw</a:t>
            </a:r>
            <a:r>
              <a:rPr lang="en-IN" sz="2800" b="1" dirty="0">
                <a:latin typeface="Arial" panose="020B0604020202020204" pitchFamily="34" charset="0"/>
                <a:cs typeface="Arial" panose="020B0604020202020204" pitchFamily="34" charset="0"/>
              </a:rPr>
              <a:t>:</a:t>
            </a:r>
            <a:endParaRPr lang="en-IN" sz="2800" dirty="0">
              <a:latin typeface="Arial" panose="020B0604020202020204" pitchFamily="34" charset="0"/>
              <a:cs typeface="Arial" panose="020B0604020202020204" pitchFamily="34" charset="0"/>
            </a:endParaRPr>
          </a:p>
          <a:p>
            <a:pPr algn="just"/>
            <a:r>
              <a:rPr lang="en-US" sz="2000" b="1" dirty="0" err="1">
                <a:latin typeface="Arial" panose="020B0604020202020204" pitchFamily="34" charset="0"/>
                <a:cs typeface="Arial" panose="020B0604020202020204" pitchFamily="34" charset="0"/>
              </a:rPr>
              <a:t>CareGuard</a:t>
            </a:r>
            <a:r>
              <a:rPr lang="en-US" sz="2000" b="1" dirty="0">
                <a:latin typeface="Arial" panose="020B0604020202020204" pitchFamily="34" charset="0"/>
                <a:cs typeface="Arial" panose="020B0604020202020204" pitchFamily="34" charset="0"/>
              </a:rPr>
              <a:t> AI</a:t>
            </a:r>
            <a:r>
              <a:rPr lang="en-US" sz="2000" dirty="0">
                <a:latin typeface="Arial" panose="020B0604020202020204" pitchFamily="34" charset="0"/>
                <a:cs typeface="Arial" panose="020B0604020202020204" pitchFamily="34" charset="0"/>
              </a:rPr>
              <a:t>, a web-based intelligent health monitoring agent purpose-built for patients living with chronic conditions such as Type 2 Diabetes, Hypertension, Heart Disease, and related co-morbidities. The fundamental motivation behind this solution is to close the feedback gap that exists between clinical visits — a gap during which patients receive no professional guidance, often resulting in delayed recognition of deteriorating health, poor medication adherence, and preventable emergency admissions.</a:t>
            </a:r>
          </a:p>
          <a:p>
            <a:pPr algn="just"/>
            <a:r>
              <a:rPr lang="en-US" sz="2000" dirty="0" err="1">
                <a:latin typeface="Arial" panose="020B0604020202020204" pitchFamily="34" charset="0"/>
                <a:cs typeface="Arial" panose="020B0604020202020204" pitchFamily="34" charset="0"/>
              </a:rPr>
              <a:t>CareGuard</a:t>
            </a:r>
            <a:r>
              <a:rPr lang="en-US" sz="2000" dirty="0">
                <a:latin typeface="Arial" panose="020B0604020202020204" pitchFamily="34" charset="0"/>
                <a:cs typeface="Arial" panose="020B0604020202020204" pitchFamily="34" charset="0"/>
              </a:rPr>
              <a:t> AI addresses this problem by providing continuous, AI-augmented health monitoring directly through a web browser. It combines a Python Flask web application, a clinically </a:t>
            </a:r>
            <a:r>
              <a:rPr lang="en-US" sz="2000" dirty="0" err="1">
                <a:latin typeface="Arial" panose="020B0604020202020204" pitchFamily="34" charset="0"/>
                <a:cs typeface="Arial" panose="020B0604020202020204" pitchFamily="34" charset="0"/>
              </a:rPr>
              <a:t>parameterised</a:t>
            </a:r>
            <a:r>
              <a:rPr lang="en-US" sz="2000" dirty="0">
                <a:latin typeface="Arial" panose="020B0604020202020204" pitchFamily="34" charset="0"/>
                <a:cs typeface="Arial" panose="020B0604020202020204" pitchFamily="34" charset="0"/>
              </a:rPr>
              <a:t> health data simulator, a rule-based risk scoring engine, and a conversational AI assistant powered by IBM Watsonx.ai using the IBM Granite family of large language models. The system is designed to work entirely offline when IBM cloud credentials are unavailable, ensuring resilience in low-connectivity or demonstration environments through a built-in local AI engine that mirrors the </a:t>
            </a:r>
            <a:r>
              <a:rPr lang="en-US" sz="2000" dirty="0" err="1">
                <a:latin typeface="Arial" panose="020B0604020202020204" pitchFamily="34" charset="0"/>
                <a:cs typeface="Arial" panose="020B0604020202020204" pitchFamily="34" charset="0"/>
              </a:rPr>
              <a:t>behaviour</a:t>
            </a:r>
            <a:r>
              <a:rPr lang="en-US" sz="2000" dirty="0">
                <a:latin typeface="Arial" panose="020B0604020202020204" pitchFamily="34" charset="0"/>
                <a:cs typeface="Arial" panose="020B0604020202020204" pitchFamily="34" charset="0"/>
              </a:rPr>
              <a:t> of the Granite model.</a:t>
            </a:r>
          </a:p>
          <a:p>
            <a:endParaRPr lang="en-IN" dirty="0"/>
          </a:p>
        </p:txBody>
      </p:sp>
    </p:spTree>
    <p:extLst>
      <p:ext uri="{BB962C8B-B14F-4D97-AF65-F5344CB8AC3E}">
        <p14:creationId xmlns:p14="http://schemas.microsoft.com/office/powerpoint/2010/main" val="1671227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2B2D5C-533D-4C49-9140-8822E59129BB}"/>
              </a:ext>
            </a:extLst>
          </p:cNvPr>
          <p:cNvSpPr txBox="1"/>
          <p:nvPr/>
        </p:nvSpPr>
        <p:spPr>
          <a:xfrm>
            <a:off x="138112" y="612844"/>
            <a:ext cx="11915775" cy="5847755"/>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Design Goals and Guiding Principles </a:t>
            </a:r>
          </a:p>
          <a:p>
            <a:endParaRPr lang="en-US" sz="2800" b="1" dirty="0">
              <a:latin typeface="Arial" panose="020B0604020202020204" pitchFamily="34" charset="0"/>
              <a:cs typeface="Arial" panose="020B0604020202020204" pitchFamily="34" charset="0"/>
            </a:endParaRPr>
          </a:p>
          <a:p>
            <a:pPr algn="just"/>
            <a:r>
              <a:rPr lang="en-US" sz="2000" dirty="0">
                <a:latin typeface="Arial" panose="020B0604020202020204" pitchFamily="34" charset="0"/>
                <a:cs typeface="Arial" panose="020B0604020202020204" pitchFamily="34" charset="0"/>
              </a:rPr>
              <a:t>The design of </a:t>
            </a:r>
            <a:r>
              <a:rPr lang="en-US" sz="2000" dirty="0" err="1">
                <a:latin typeface="Arial" panose="020B0604020202020204" pitchFamily="34" charset="0"/>
                <a:cs typeface="Arial" panose="020B0604020202020204" pitchFamily="34" charset="0"/>
              </a:rPr>
              <a:t>CareGuard</a:t>
            </a:r>
            <a:r>
              <a:rPr lang="en-US" sz="2000" dirty="0">
                <a:latin typeface="Arial" panose="020B0604020202020204" pitchFamily="34" charset="0"/>
                <a:cs typeface="Arial" panose="020B0604020202020204" pitchFamily="34" charset="0"/>
              </a:rPr>
              <a:t> AI was guided by five core principles that shaped every architectural and implementation decision throughout the project.</a:t>
            </a:r>
          </a:p>
          <a:p>
            <a:pPr algn="just"/>
            <a:endParaRPr lang="en-US" sz="2000" dirty="0">
              <a:latin typeface="Arial" panose="020B0604020202020204" pitchFamily="34" charset="0"/>
              <a:cs typeface="Arial" panose="020B0604020202020204" pitchFamily="34" charset="0"/>
            </a:endParaRPr>
          </a:p>
          <a:p>
            <a:pPr marL="457200" indent="-457200" algn="just">
              <a:buFont typeface="Arial" panose="020B0604020202020204" pitchFamily="34" charset="0"/>
              <a:buChar char="•"/>
            </a:pPr>
            <a:r>
              <a:rPr lang="en-US" sz="2000" dirty="0">
                <a:latin typeface="Arial" panose="020B0604020202020204" pitchFamily="34" charset="0"/>
                <a:cs typeface="Arial" panose="020B0604020202020204" pitchFamily="34" charset="0"/>
              </a:rPr>
              <a:t>The first principle is offline-first resilience. The application is engineered to function fully without cloud credentials. A local rule-based AI engine within watsonx_client.py serves as a drop-in replacement for the IBM Granite API, returning structured, clinically grounded responses to patient queries with no external network calls. This ensures that the system remains usable for demonstrations, rural deployments, or environments with unreliable internet connectivity.</a:t>
            </a:r>
          </a:p>
          <a:p>
            <a:pPr marL="457200" indent="-457200" algn="just">
              <a:buFont typeface="+mj-lt"/>
              <a:buAutoNum type="arabicPeriod"/>
            </a:pPr>
            <a:endParaRPr lang="en-US" sz="2000" dirty="0">
              <a:latin typeface="Arial" panose="020B0604020202020204" pitchFamily="34" charset="0"/>
              <a:cs typeface="Arial" panose="020B0604020202020204" pitchFamily="34" charset="0"/>
            </a:endParaRPr>
          </a:p>
          <a:p>
            <a:pPr marL="457200" indent="-457200" algn="just">
              <a:buFont typeface="Arial" panose="020B0604020202020204" pitchFamily="34" charset="0"/>
              <a:buChar char="•"/>
            </a:pPr>
            <a:r>
              <a:rPr lang="en-US" sz="2000" dirty="0">
                <a:latin typeface="Arial" panose="020B0604020202020204" pitchFamily="34" charset="0"/>
                <a:cs typeface="Arial" panose="020B0604020202020204" pitchFamily="34" charset="0"/>
              </a:rPr>
              <a:t>The second principle is patient-centric </a:t>
            </a:r>
            <a:r>
              <a:rPr lang="en-US" sz="2000" dirty="0" err="1">
                <a:latin typeface="Arial" panose="020B0604020202020204" pitchFamily="34" charset="0"/>
                <a:cs typeface="Arial" panose="020B0604020202020204" pitchFamily="34" charset="0"/>
              </a:rPr>
              <a:t>personalisation</a:t>
            </a:r>
            <a:r>
              <a:rPr lang="en-US" sz="2000" dirty="0">
                <a:latin typeface="Arial" panose="020B0604020202020204" pitchFamily="34" charset="0"/>
                <a:cs typeface="Arial" panose="020B0604020202020204" pitchFamily="34" charset="0"/>
              </a:rPr>
              <a:t>. Every interaction with the AI layer is enriched with the patient's current profile before the request is dispatched. This includes demographics, existing diagnoses, current medications, known allergies, family history of hereditary diseases, and the patient's most recent vital-sign reading. By injecting this context at the system-prompt level, the agent is transformed from a generic language model into a patient-specific health advisor at inference time, without any model fine-tuning.</a:t>
            </a:r>
          </a:p>
          <a:p>
            <a:endParaRPr lang="en-IN" dirty="0"/>
          </a:p>
        </p:txBody>
      </p:sp>
    </p:spTree>
    <p:extLst>
      <p:ext uri="{BB962C8B-B14F-4D97-AF65-F5344CB8AC3E}">
        <p14:creationId xmlns:p14="http://schemas.microsoft.com/office/powerpoint/2010/main" val="2992496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8E43D3-019A-402D-8AE4-5FB2C0724802}"/>
              </a:ext>
            </a:extLst>
          </p:cNvPr>
          <p:cNvSpPr txBox="1"/>
          <p:nvPr/>
        </p:nvSpPr>
        <p:spPr>
          <a:xfrm>
            <a:off x="442912" y="474345"/>
            <a:ext cx="11306175" cy="6524863"/>
          </a:xfrm>
          <a:prstGeom prst="rect">
            <a:avLst/>
          </a:prstGeom>
          <a:noFill/>
        </p:spPr>
        <p:txBody>
          <a:bodyPr wrap="square" rtlCol="0">
            <a:spAutoFit/>
          </a:bodyPr>
          <a:lstStyle/>
          <a:p>
            <a:pPr marL="457200" indent="-457200" algn="just">
              <a:buFont typeface="Arial" panose="020B0604020202020204" pitchFamily="34" charset="0"/>
              <a:buChar char="•"/>
            </a:pPr>
            <a:r>
              <a:rPr lang="en-US" sz="2000" dirty="0">
                <a:latin typeface="Arial" panose="020B0604020202020204" pitchFamily="34" charset="0"/>
                <a:cs typeface="Arial" panose="020B0604020202020204" pitchFamily="34" charset="0"/>
              </a:rPr>
              <a:t>The third principle is safety by design. Seven mandatory safety rules are hard-coded into the agent's system prompt and are never overridden by user input or model inference. These rules prohibit the agent from diagnosing new conditions, prescribing or modifying drug dosages, or dismissing patient-reported symptoms. In all cases where vital signs exceed critical thresholds, the agent's first response is to direct the patient to call emergency services. A medical disclaimer is appended to every health-status output, reinforcing that the application provides guidance rather than clinical diagnosis.</a:t>
            </a:r>
          </a:p>
          <a:p>
            <a:pPr marL="457200" indent="-457200" algn="just">
              <a:buFont typeface="+mj-lt"/>
              <a:buAutoNum type="arabicPeriod"/>
            </a:pPr>
            <a:endParaRPr lang="en-US" sz="2000" dirty="0">
              <a:latin typeface="Arial" panose="020B0604020202020204" pitchFamily="34" charset="0"/>
              <a:cs typeface="Arial" panose="020B0604020202020204" pitchFamily="34" charset="0"/>
            </a:endParaRPr>
          </a:p>
          <a:p>
            <a:pPr marL="457200" indent="-457200" algn="just">
              <a:buFont typeface="Arial" panose="020B0604020202020204" pitchFamily="34" charset="0"/>
              <a:buChar char="•"/>
            </a:pPr>
            <a:r>
              <a:rPr lang="en-US" sz="2000" dirty="0">
                <a:latin typeface="Arial" panose="020B0604020202020204" pitchFamily="34" charset="0"/>
                <a:cs typeface="Arial" panose="020B0604020202020204" pitchFamily="34" charset="0"/>
              </a:rPr>
              <a:t>The fourth principle is extensibility without code changes. Disease </a:t>
            </a:r>
            <a:r>
              <a:rPr lang="en-US" sz="2000" dirty="0" err="1">
                <a:latin typeface="Arial" panose="020B0604020202020204" pitchFamily="34" charset="0"/>
                <a:cs typeface="Arial" panose="020B0604020202020204" pitchFamily="34" charset="0"/>
              </a:rPr>
              <a:t>specialisations</a:t>
            </a:r>
            <a:r>
              <a:rPr lang="en-US" sz="2000" dirty="0">
                <a:latin typeface="Arial" panose="020B0604020202020204" pitchFamily="34" charset="0"/>
                <a:cs typeface="Arial" panose="020B0604020202020204" pitchFamily="34" charset="0"/>
              </a:rPr>
              <a:t>, alert thresholds, the AI model identifier, and generation hyperparameters are all </a:t>
            </a:r>
            <a:r>
              <a:rPr lang="en-US" sz="2000" dirty="0" err="1">
                <a:latin typeface="Arial" panose="020B0604020202020204" pitchFamily="34" charset="0"/>
                <a:cs typeface="Arial" panose="020B0604020202020204" pitchFamily="34" charset="0"/>
              </a:rPr>
              <a:t>externalised</a:t>
            </a:r>
            <a:r>
              <a:rPr lang="en-US" sz="2000" dirty="0">
                <a:latin typeface="Arial" panose="020B0604020202020204" pitchFamily="34" charset="0"/>
                <a:cs typeface="Arial" panose="020B0604020202020204" pitchFamily="34" charset="0"/>
              </a:rPr>
              <a:t> into two configuration files — agent_instructions.py and config.py. Enabling support for a new chronic condition (for example, Rheumatoid Arthritis, currently disabled) requires a single </a:t>
            </a:r>
            <a:r>
              <a:rPr lang="en-US" sz="2000" dirty="0" err="1">
                <a:latin typeface="Arial" panose="020B0604020202020204" pitchFamily="34" charset="0"/>
                <a:cs typeface="Arial" panose="020B0604020202020204" pitchFamily="34" charset="0"/>
              </a:rPr>
              <a:t>boolean</a:t>
            </a:r>
            <a:r>
              <a:rPr lang="en-US" sz="2000" dirty="0">
                <a:latin typeface="Arial" panose="020B0604020202020204" pitchFamily="34" charset="0"/>
                <a:cs typeface="Arial" panose="020B0604020202020204" pitchFamily="34" charset="0"/>
              </a:rPr>
              <a:t> change. Switching from the Granite 4-H Small model to Granite 3.3-8B Instruct requires changing one string. This design lowers the barrier for clinical teams or researchers to adapt the system for different patient populations.</a:t>
            </a:r>
          </a:p>
          <a:p>
            <a:pPr marL="457200" indent="-457200" algn="just">
              <a:buFont typeface="+mj-lt"/>
              <a:buAutoNum type="arabicPeriod"/>
            </a:pPr>
            <a:endParaRPr lang="en-US" sz="2000" dirty="0">
              <a:latin typeface="Arial" panose="020B0604020202020204" pitchFamily="34" charset="0"/>
              <a:cs typeface="Arial" panose="020B0604020202020204" pitchFamily="34" charset="0"/>
            </a:endParaRPr>
          </a:p>
          <a:p>
            <a:pPr marL="457200" indent="-457200" algn="just">
              <a:buFont typeface="Arial" panose="020B0604020202020204" pitchFamily="34" charset="0"/>
              <a:buChar char="•"/>
            </a:pPr>
            <a:r>
              <a:rPr lang="en-US" sz="2000" dirty="0">
                <a:latin typeface="Arial" panose="020B0604020202020204" pitchFamily="34" charset="0"/>
                <a:cs typeface="Arial" panose="020B0604020202020204" pitchFamily="34" charset="0"/>
              </a:rPr>
              <a:t>The fifth principle is immediate </a:t>
            </a:r>
            <a:r>
              <a:rPr lang="en-US" sz="2000" dirty="0" err="1">
                <a:latin typeface="Arial" panose="020B0604020202020204" pitchFamily="34" charset="0"/>
                <a:cs typeface="Arial" panose="020B0604020202020204" pitchFamily="34" charset="0"/>
              </a:rPr>
              <a:t>deployability</a:t>
            </a:r>
            <a:r>
              <a:rPr lang="en-US" sz="2000" dirty="0">
                <a:latin typeface="Arial" panose="020B0604020202020204" pitchFamily="34" charset="0"/>
                <a:cs typeface="Arial" panose="020B0604020202020204" pitchFamily="34" charset="0"/>
              </a:rPr>
              <a:t>. The project ships with a </a:t>
            </a:r>
            <a:r>
              <a:rPr lang="en-US" sz="2000" dirty="0" err="1">
                <a:latin typeface="Arial" panose="020B0604020202020204" pitchFamily="34" charset="0"/>
                <a:cs typeface="Arial" panose="020B0604020202020204" pitchFamily="34" charset="0"/>
              </a:rPr>
              <a:t>Procfile</a:t>
            </a:r>
            <a:r>
              <a:rPr lang="en-US" sz="2000" dirty="0">
                <a:latin typeface="Arial" panose="020B0604020202020204" pitchFamily="34" charset="0"/>
                <a:cs typeface="Arial" panose="020B0604020202020204" pitchFamily="34" charset="0"/>
              </a:rPr>
              <a:t> for </a:t>
            </a:r>
            <a:r>
              <a:rPr lang="en-US" sz="2000" dirty="0" err="1">
                <a:latin typeface="Arial" panose="020B0604020202020204" pitchFamily="34" charset="0"/>
                <a:cs typeface="Arial" panose="020B0604020202020204" pitchFamily="34" charset="0"/>
              </a:rPr>
              <a:t>Gunicorn</a:t>
            </a:r>
            <a:r>
              <a:rPr lang="en-US" sz="2000" dirty="0">
                <a:latin typeface="Arial" panose="020B0604020202020204" pitchFamily="34" charset="0"/>
                <a:cs typeface="Arial" panose="020B0604020202020204" pitchFamily="34" charset="0"/>
              </a:rPr>
              <a:t>, a runtime.txt specifying the Python version, and complete deployment scripts for IBM Cloud Code Engine and IBM Cloud Foundry. A developer can go from a clean checkout to a running production deployment in under ten minutes.</a:t>
            </a:r>
          </a:p>
          <a:p>
            <a:endParaRPr lang="en-IN" dirty="0"/>
          </a:p>
        </p:txBody>
      </p:sp>
    </p:spTree>
    <p:extLst>
      <p:ext uri="{BB962C8B-B14F-4D97-AF65-F5344CB8AC3E}">
        <p14:creationId xmlns:p14="http://schemas.microsoft.com/office/powerpoint/2010/main" val="4260070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4773EE-7C47-4E5B-AED6-278E839091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009" y="139961"/>
            <a:ext cx="5282716" cy="328903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a:extLst>
              <a:ext uri="{FF2B5EF4-FFF2-40B4-BE49-F238E27FC236}">
                <a16:creationId xmlns:a16="http://schemas.microsoft.com/office/drawing/2014/main" id="{F657B9B5-9E32-4E20-B403-1995DED750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312370"/>
            <a:ext cx="5597041" cy="331641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TextBox 9">
            <a:extLst>
              <a:ext uri="{FF2B5EF4-FFF2-40B4-BE49-F238E27FC236}">
                <a16:creationId xmlns:a16="http://schemas.microsoft.com/office/drawing/2014/main" id="{4D13CDB0-A39B-493D-810B-536E3F4AFFF1}"/>
              </a:ext>
            </a:extLst>
          </p:cNvPr>
          <p:cNvSpPr txBox="1"/>
          <p:nvPr/>
        </p:nvSpPr>
        <p:spPr>
          <a:xfrm>
            <a:off x="6157912" y="16720"/>
            <a:ext cx="5473216" cy="3170099"/>
          </a:xfrm>
          <a:prstGeom prst="rect">
            <a:avLst/>
          </a:prstGeom>
          <a:noFill/>
        </p:spPr>
        <p:txBody>
          <a:bodyPr wrap="square" rtlCol="0">
            <a:spAutoFit/>
          </a:bodyPr>
          <a:lstStyle/>
          <a:p>
            <a:pPr algn="just"/>
            <a:r>
              <a:rPr lang="en-US" sz="2000" b="1" dirty="0">
                <a:latin typeface="Arial" panose="020B0604020202020204" pitchFamily="34" charset="0"/>
                <a:cs typeface="Arial" panose="020B0604020202020204" pitchFamily="34" charset="0"/>
              </a:rPr>
              <a:t>conversational AI chat</a:t>
            </a:r>
            <a:r>
              <a:rPr lang="en-US" sz="2000" dirty="0">
                <a:latin typeface="Arial" panose="020B0604020202020204" pitchFamily="34" charset="0"/>
                <a:cs typeface="Arial" panose="020B0604020202020204" pitchFamily="34" charset="0"/>
              </a:rPr>
              <a:t> interface allows the patient to ask natural-language health questions. The agent maintains an in-memory conversation history of up to forty messages and enriches each outgoing message with the patient's latest vitals before querying the AI layer. Quick-prompt buttons on the chat page provide one-click access to common topics such as diet, exercise, medications, and emergency guidance.</a:t>
            </a:r>
            <a:endParaRPr lang="en-IN" sz="2000" dirty="0">
              <a:latin typeface="Arial" panose="020B0604020202020204" pitchFamily="34" charset="0"/>
              <a:cs typeface="Arial" panose="020B0604020202020204" pitchFamily="34" charset="0"/>
            </a:endParaRPr>
          </a:p>
        </p:txBody>
      </p:sp>
      <p:sp>
        <p:nvSpPr>
          <p:cNvPr id="11" name="Rectangle: Rounded Corners 10">
            <a:extLst>
              <a:ext uri="{FF2B5EF4-FFF2-40B4-BE49-F238E27FC236}">
                <a16:creationId xmlns:a16="http://schemas.microsoft.com/office/drawing/2014/main" id="{378710CD-AE37-499C-89BA-211665300AC2}"/>
              </a:ext>
            </a:extLst>
          </p:cNvPr>
          <p:cNvSpPr/>
          <p:nvPr/>
        </p:nvSpPr>
        <p:spPr>
          <a:xfrm>
            <a:off x="13592175" y="2752725"/>
            <a:ext cx="45719" cy="4571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D56EF849-0EAF-4D8A-9BE8-040FBF184058}"/>
              </a:ext>
            </a:extLst>
          </p:cNvPr>
          <p:cNvSpPr txBox="1"/>
          <p:nvPr/>
        </p:nvSpPr>
        <p:spPr>
          <a:xfrm>
            <a:off x="342900" y="3429000"/>
            <a:ext cx="5457825" cy="3477875"/>
          </a:xfrm>
          <a:prstGeom prst="rect">
            <a:avLst/>
          </a:prstGeom>
          <a:noFill/>
        </p:spPr>
        <p:txBody>
          <a:bodyPr wrap="square" rtlCol="0">
            <a:spAutoFit/>
          </a:bodyPr>
          <a:lstStyle/>
          <a:p>
            <a:pPr algn="just"/>
            <a:r>
              <a:rPr lang="en-US" sz="2000" dirty="0">
                <a:latin typeface="Arial" panose="020B0604020202020204" pitchFamily="34" charset="0"/>
                <a:cs typeface="Arial" panose="020B0604020202020204" pitchFamily="34" charset="0"/>
              </a:rPr>
              <a:t>The </a:t>
            </a:r>
            <a:r>
              <a:rPr lang="en-US" sz="2000" b="1" dirty="0">
                <a:latin typeface="Arial" panose="020B0604020202020204" pitchFamily="34" charset="0"/>
                <a:cs typeface="Arial" panose="020B0604020202020204" pitchFamily="34" charset="0"/>
              </a:rPr>
              <a:t>live health dashboard</a:t>
            </a:r>
            <a:r>
              <a:rPr lang="en-US" sz="2000" dirty="0">
                <a:latin typeface="Arial" panose="020B0604020202020204" pitchFamily="34" charset="0"/>
                <a:cs typeface="Arial" panose="020B0604020202020204" pitchFamily="34" charset="0"/>
              </a:rPr>
              <a:t> displays the patient's latest simulated vital signs — heart rate, blood pressure, blood glucose, oxygen saturation, body temperature, step count, sleep duration, and stress index — alongside a calculated BMI and risk score, with Chart.js line graphs showing seven-day trends for glucose, systolic blood pressure, and heart rate. The dashboard auto-refreshes via AJAX every thirty seconds to simulate continuous wearable monitoring.</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24655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a:extLst>
              <a:ext uri="{FF2B5EF4-FFF2-40B4-BE49-F238E27FC236}">
                <a16:creationId xmlns:a16="http://schemas.microsoft.com/office/drawing/2014/main" id="{B8198C75-93F5-46A4-A381-1D6A0CCE8BC6}"/>
              </a:ext>
            </a:extLst>
          </p:cNvPr>
          <p:cNvSpPr>
            <a:spLocks noChangeArrowheads="1"/>
          </p:cNvSpPr>
          <p:nvPr/>
        </p:nvSpPr>
        <p:spPr bwMode="auto">
          <a:xfrm rot="10800000" flipV="1">
            <a:off x="342901" y="1105285"/>
            <a:ext cx="11696699" cy="215443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1F2328"/>
                </a:solidFill>
                <a:effectLst/>
                <a:cs typeface="Arial" panose="020B0604020202020204" pitchFamily="34" charset="0"/>
              </a:rPr>
              <a:t>IBM Watsonx.ai</a:t>
            </a:r>
            <a:endParaRPr kumimoji="0" lang="en-US" altLang="en-US" sz="2000" b="0" i="0" u="none" strike="noStrike" cap="none" normalizeH="0" baseline="0" dirty="0">
              <a:ln>
                <a:noFill/>
              </a:ln>
              <a:solidFill>
                <a:schemeClr val="tx1"/>
              </a:solidFill>
              <a:effectLst/>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57606A"/>
                </a:solidFill>
                <a:effectLst/>
                <a:cs typeface="Arial" panose="020B0604020202020204" pitchFamily="34" charset="0"/>
              </a:rPr>
              <a:t>IBM's enterprise AI platform, accessed via the </a:t>
            </a:r>
            <a:r>
              <a:rPr kumimoji="0" lang="en-US" altLang="en-US" sz="2000" b="0" i="0" u="none" strike="noStrike" cap="none" normalizeH="0" baseline="0" dirty="0" err="1">
                <a:ln>
                  <a:noFill/>
                </a:ln>
                <a:solidFill>
                  <a:srgbClr val="57606A"/>
                </a:solidFill>
                <a:effectLst/>
                <a:cs typeface="Arial" panose="020B0604020202020204" pitchFamily="34" charset="0"/>
              </a:rPr>
              <a:t>ibm</a:t>
            </a:r>
            <a:r>
              <a:rPr kumimoji="0" lang="en-US" altLang="en-US" sz="2000" b="0" i="0" u="none" strike="noStrike" cap="none" normalizeH="0" baseline="0" dirty="0">
                <a:ln>
                  <a:noFill/>
                </a:ln>
                <a:solidFill>
                  <a:srgbClr val="57606A"/>
                </a:solidFill>
                <a:effectLst/>
                <a:cs typeface="Arial" panose="020B0604020202020204" pitchFamily="34" charset="0"/>
              </a:rPr>
              <a:t>-</a:t>
            </a:r>
            <a:r>
              <a:rPr kumimoji="0" lang="en-US" altLang="en-US" sz="2000" b="0" i="0" u="none" strike="noStrike" cap="none" normalizeH="0" baseline="0" dirty="0" err="1">
                <a:ln>
                  <a:noFill/>
                </a:ln>
                <a:solidFill>
                  <a:srgbClr val="57606A"/>
                </a:solidFill>
                <a:effectLst/>
                <a:cs typeface="Arial" panose="020B0604020202020204" pitchFamily="34" charset="0"/>
              </a:rPr>
              <a:t>watsonx</a:t>
            </a:r>
            <a:r>
              <a:rPr kumimoji="0" lang="en-US" altLang="en-US" sz="2000" b="0" i="0" u="none" strike="noStrike" cap="none" normalizeH="0" baseline="0" dirty="0">
                <a:ln>
                  <a:noFill/>
                </a:ln>
                <a:solidFill>
                  <a:srgbClr val="57606A"/>
                </a:solidFill>
                <a:effectLst/>
                <a:cs typeface="Arial" panose="020B0604020202020204" pitchFamily="34" charset="0"/>
              </a:rPr>
              <a:t>-ai Python SDK. Provides hosted large language model inference with enterprise-grade security and compliance. Used as the primary AI reasoning backend when credentials are configured.</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57606A"/>
              </a:solidFill>
              <a:effectLst/>
              <a:cs typeface="Arial" panose="020B0604020202020204" pitchFamily="34" charset="0"/>
            </a:endParaRPr>
          </a:p>
          <a:p>
            <a:pPr lvl="0" algn="just"/>
            <a:r>
              <a:rPr lang="en-IN" sz="2000" b="1" dirty="0">
                <a:cs typeface="Arial" panose="020B0604020202020204" pitchFamily="34" charset="0"/>
              </a:rPr>
              <a:t>IBM Granite (</a:t>
            </a:r>
            <a:r>
              <a:rPr lang="en-IN" sz="2000" b="1" dirty="0" err="1">
                <a:cs typeface="Arial" panose="020B0604020202020204" pitchFamily="34" charset="0"/>
              </a:rPr>
              <a:t>ibm</a:t>
            </a:r>
            <a:r>
              <a:rPr lang="en-IN" sz="2000" b="1" dirty="0">
                <a:cs typeface="Arial" panose="020B0604020202020204" pitchFamily="34" charset="0"/>
              </a:rPr>
              <a:t>/granite-4-h-small)</a:t>
            </a:r>
          </a:p>
          <a:p>
            <a:pPr lvl="0" algn="just"/>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10" name="Rectangle 9">
            <a:extLst>
              <a:ext uri="{FF2B5EF4-FFF2-40B4-BE49-F238E27FC236}">
                <a16:creationId xmlns:a16="http://schemas.microsoft.com/office/drawing/2014/main" id="{375F0F59-65A1-45B4-B1BD-FE1E998594B5}"/>
              </a:ext>
            </a:extLst>
          </p:cNvPr>
          <p:cNvSpPr/>
          <p:nvPr/>
        </p:nvSpPr>
        <p:spPr>
          <a:xfrm>
            <a:off x="247650" y="2936559"/>
            <a:ext cx="11696699" cy="1323439"/>
          </a:xfrm>
          <a:prstGeom prst="rect">
            <a:avLst/>
          </a:prstGeom>
        </p:spPr>
        <p:txBody>
          <a:bodyPr wrap="square">
            <a:spAutoFit/>
          </a:bodyPr>
          <a:lstStyle/>
          <a:p>
            <a:r>
              <a:rPr lang="en-US" sz="2000" dirty="0">
                <a:latin typeface="Arial" panose="020B0604020202020204" pitchFamily="34" charset="0"/>
                <a:cs typeface="Arial" panose="020B0604020202020204" pitchFamily="34" charset="0"/>
              </a:rPr>
              <a:t>The IBM Granite family of instruction-tuned language models, configured in config.py. The default model is </a:t>
            </a:r>
            <a:r>
              <a:rPr lang="en-US" sz="2000" dirty="0" err="1">
                <a:latin typeface="Arial" panose="020B0604020202020204" pitchFamily="34" charset="0"/>
                <a:cs typeface="Arial" panose="020B0604020202020204" pitchFamily="34" charset="0"/>
              </a:rPr>
              <a:t>ibm</a:t>
            </a:r>
            <a:r>
              <a:rPr lang="en-US" sz="2000" dirty="0">
                <a:latin typeface="Arial" panose="020B0604020202020204" pitchFamily="34" charset="0"/>
                <a:cs typeface="Arial" panose="020B0604020202020204" pitchFamily="34" charset="0"/>
              </a:rPr>
              <a:t>/granite-4-h-small, with </a:t>
            </a:r>
            <a:r>
              <a:rPr lang="en-US" sz="2000" dirty="0" err="1">
                <a:latin typeface="Arial" panose="020B0604020202020204" pitchFamily="34" charset="0"/>
                <a:cs typeface="Arial" panose="020B0604020202020204" pitchFamily="34" charset="0"/>
              </a:rPr>
              <a:t>ibm</a:t>
            </a:r>
            <a:r>
              <a:rPr lang="en-US" sz="2000" dirty="0">
                <a:latin typeface="Arial" panose="020B0604020202020204" pitchFamily="34" charset="0"/>
                <a:cs typeface="Arial" panose="020B0604020202020204" pitchFamily="34" charset="0"/>
              </a:rPr>
              <a:t>/granite-3-3-8b-instruct and </a:t>
            </a:r>
            <a:r>
              <a:rPr lang="en-US" sz="2000" dirty="0" err="1">
                <a:latin typeface="Arial" panose="020B0604020202020204" pitchFamily="34" charset="0"/>
                <a:cs typeface="Arial" panose="020B0604020202020204" pitchFamily="34" charset="0"/>
              </a:rPr>
              <a:t>ibm</a:t>
            </a:r>
            <a:r>
              <a:rPr lang="en-US" sz="2000" dirty="0">
                <a:latin typeface="Arial" panose="020B0604020202020204" pitchFamily="34" charset="0"/>
                <a:cs typeface="Arial" panose="020B0604020202020204" pitchFamily="34" charset="0"/>
              </a:rPr>
              <a:t>/granite-3-8b-instruct available as alternatives. Generates </a:t>
            </a:r>
            <a:r>
              <a:rPr lang="en-US" sz="2000" dirty="0" err="1">
                <a:latin typeface="Arial" panose="020B0604020202020204" pitchFamily="34" charset="0"/>
                <a:cs typeface="Arial" panose="020B0604020202020204" pitchFamily="34" charset="0"/>
              </a:rPr>
              <a:t>personalised</a:t>
            </a:r>
            <a:r>
              <a:rPr lang="en-US" sz="2000" dirty="0">
                <a:latin typeface="Arial" panose="020B0604020202020204" pitchFamily="34" charset="0"/>
                <a:cs typeface="Arial" panose="020B0604020202020204" pitchFamily="34" charset="0"/>
              </a:rPr>
              <a:t> health analysis, chat responses, and medication advice from structured clinical system prompts.</a:t>
            </a:r>
            <a:endParaRPr lang="en-IN" sz="2000" dirty="0">
              <a:latin typeface="Arial" panose="020B0604020202020204" pitchFamily="34" charset="0"/>
              <a:cs typeface="Arial" panose="020B0604020202020204" pitchFamily="34" charset="0"/>
            </a:endParaRPr>
          </a:p>
        </p:txBody>
      </p:sp>
      <p:sp>
        <p:nvSpPr>
          <p:cNvPr id="11" name="Rectangle 6">
            <a:extLst>
              <a:ext uri="{FF2B5EF4-FFF2-40B4-BE49-F238E27FC236}">
                <a16:creationId xmlns:a16="http://schemas.microsoft.com/office/drawing/2014/main" id="{65BAB9F8-F454-4577-B6D3-EFC2E8249335}"/>
              </a:ext>
            </a:extLst>
          </p:cNvPr>
          <p:cNvSpPr>
            <a:spLocks noChangeArrowheads="1"/>
          </p:cNvSpPr>
          <p:nvPr/>
        </p:nvSpPr>
        <p:spPr bwMode="auto">
          <a:xfrm>
            <a:off x="342901" y="4561308"/>
            <a:ext cx="11464786" cy="153888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1F2328"/>
                </a:solidFill>
                <a:effectLst/>
                <a:cs typeface="Arial" panose="020B0604020202020204" pitchFamily="34" charset="0"/>
              </a:rPr>
              <a:t>IBM Cloud Code Engine</a:t>
            </a:r>
            <a:endParaRPr kumimoji="0" lang="en-US" altLang="en-US" sz="2000" b="0" i="0" u="none" strike="noStrike" cap="none" normalizeH="0" baseline="0" dirty="0">
              <a:ln>
                <a:noFill/>
              </a:ln>
              <a:solidFill>
                <a:schemeClr val="tx1"/>
              </a:solidFill>
              <a:effectLst/>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57606A"/>
                </a:solidFill>
                <a:effectLst/>
                <a:cs typeface="Arial" panose="020B0604020202020204" pitchFamily="34" charset="0"/>
              </a:rPr>
              <a:t>Fully managed, serverless container platform on IBM Cloud. The primary recommended production deployment target. Application source is packaged and deployed via the IBM Cloud CLI (</a:t>
            </a:r>
            <a:r>
              <a:rPr kumimoji="0" lang="en-US" altLang="en-US" sz="2000" b="0" i="0" u="none" strike="noStrike" cap="none" normalizeH="0" baseline="0" dirty="0" err="1">
                <a:ln>
                  <a:noFill/>
                </a:ln>
                <a:solidFill>
                  <a:srgbClr val="57606A"/>
                </a:solidFill>
                <a:effectLst/>
                <a:cs typeface="Arial" panose="020B0604020202020204" pitchFamily="34" charset="0"/>
              </a:rPr>
              <a:t>ibmcloud</a:t>
            </a:r>
            <a:r>
              <a:rPr kumimoji="0" lang="en-US" altLang="en-US" sz="2000" b="0" i="0" u="none" strike="noStrike" cap="none" normalizeH="0" baseline="0" dirty="0">
                <a:ln>
                  <a:noFill/>
                </a:ln>
                <a:solidFill>
                  <a:srgbClr val="57606A"/>
                </a:solidFill>
                <a:effectLst/>
                <a:cs typeface="Arial" panose="020B0604020202020204" pitchFamily="34" charset="0"/>
              </a:rPr>
              <a:t> </a:t>
            </a:r>
            <a:r>
              <a:rPr kumimoji="0" lang="en-US" altLang="en-US" sz="2000" b="0" i="0" u="none" strike="noStrike" cap="none" normalizeH="0" baseline="0" dirty="0" err="1">
                <a:ln>
                  <a:noFill/>
                </a:ln>
                <a:solidFill>
                  <a:srgbClr val="57606A"/>
                </a:solidFill>
                <a:effectLst/>
                <a:cs typeface="Arial" panose="020B0604020202020204" pitchFamily="34" charset="0"/>
              </a:rPr>
              <a:t>ce</a:t>
            </a:r>
            <a:r>
              <a:rPr kumimoji="0" lang="en-US" altLang="en-US" sz="2000" b="0" i="0" u="none" strike="noStrike" cap="none" normalizeH="0" baseline="0" dirty="0">
                <a:ln>
                  <a:noFill/>
                </a:ln>
                <a:solidFill>
                  <a:srgbClr val="57606A"/>
                </a:solidFill>
                <a:effectLst/>
                <a:cs typeface="Arial" panose="020B0604020202020204" pitchFamily="34" charset="0"/>
              </a:rPr>
              <a:t> app create), with secrets injected as environment variables and a minimum of one always-on instance configured to avoid cold starts.</a:t>
            </a:r>
            <a:endParaRPr kumimoji="0" lang="en-US" altLang="en-US" sz="2000" b="0" i="0" u="none" strike="noStrike" cap="none" normalizeH="0" baseline="0" dirty="0">
              <a:ln>
                <a:noFill/>
              </a:ln>
              <a:solidFill>
                <a:schemeClr val="tx1"/>
              </a:solidFill>
              <a:effectLst/>
              <a:cs typeface="Arial" panose="020B0604020202020204" pitchFamily="34" charset="0"/>
            </a:endParaRPr>
          </a:p>
        </p:txBody>
      </p:sp>
      <p:sp>
        <p:nvSpPr>
          <p:cNvPr id="12" name="TextBox 11">
            <a:extLst>
              <a:ext uri="{FF2B5EF4-FFF2-40B4-BE49-F238E27FC236}">
                <a16:creationId xmlns:a16="http://schemas.microsoft.com/office/drawing/2014/main" id="{B62D23E5-9571-42F5-9FE2-3D8A008E8937}"/>
              </a:ext>
            </a:extLst>
          </p:cNvPr>
          <p:cNvSpPr txBox="1"/>
          <p:nvPr/>
        </p:nvSpPr>
        <p:spPr>
          <a:xfrm>
            <a:off x="2484783" y="238539"/>
            <a:ext cx="7573617" cy="523220"/>
          </a:xfrm>
          <a:prstGeom prst="rect">
            <a:avLst/>
          </a:prstGeom>
          <a:noFill/>
        </p:spPr>
        <p:txBody>
          <a:bodyPr wrap="square" rtlCol="0">
            <a:spAutoFit/>
          </a:bodyPr>
          <a:lstStyle/>
          <a:p>
            <a:pPr algn="ctr"/>
            <a:r>
              <a:rPr lang="en-IN" sz="2800" b="1" dirty="0">
                <a:latin typeface="Arial" panose="020B0604020202020204" pitchFamily="34" charset="0"/>
                <a:cs typeface="Arial" panose="020B0604020202020204" pitchFamily="34" charset="0"/>
              </a:rPr>
              <a:t>TECHNOLOGY USED</a:t>
            </a:r>
          </a:p>
        </p:txBody>
      </p:sp>
    </p:spTree>
    <p:extLst>
      <p:ext uri="{BB962C8B-B14F-4D97-AF65-F5344CB8AC3E}">
        <p14:creationId xmlns:p14="http://schemas.microsoft.com/office/powerpoint/2010/main" val="2247142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4">
            <a:extLst>
              <a:ext uri="{FF2B5EF4-FFF2-40B4-BE49-F238E27FC236}">
                <a16:creationId xmlns:a16="http://schemas.microsoft.com/office/drawing/2014/main" id="{B24101DA-FC0A-4B2D-A6FD-128A4D07FB36}"/>
              </a:ext>
            </a:extLst>
          </p:cNvPr>
          <p:cNvSpPr>
            <a:spLocks noChangeArrowheads="1"/>
          </p:cNvSpPr>
          <p:nvPr/>
        </p:nvSpPr>
        <p:spPr bwMode="auto">
          <a:xfrm>
            <a:off x="447675" y="966787"/>
            <a:ext cx="11430000" cy="2369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Safety Model</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Built on 7 mandatory rules in SAFETY_RULES (agent_instructions.py)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Agent flags risk indicators &amp; recommends professional evaluation — never diagnoses, alters dosages, or dismisses symptoms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Critical vital signs trigger emergency escalation as top priority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Every health response includes mandatory medical-advice disclaimer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Rectangle 12">
            <a:extLst>
              <a:ext uri="{FF2B5EF4-FFF2-40B4-BE49-F238E27FC236}">
                <a16:creationId xmlns:a16="http://schemas.microsoft.com/office/drawing/2014/main" id="{82A09849-18A3-40F9-834E-F182B6C98370}"/>
              </a:ext>
            </a:extLst>
          </p:cNvPr>
          <p:cNvSpPr/>
          <p:nvPr/>
        </p:nvSpPr>
        <p:spPr>
          <a:xfrm>
            <a:off x="447675" y="3124454"/>
            <a:ext cx="11668125" cy="1491177"/>
          </a:xfrm>
          <a:prstGeom prst="rect">
            <a:avLst/>
          </a:prstGeom>
        </p:spPr>
        <p:txBody>
          <a:bodyPr wrap="square">
            <a:spAutoFit/>
          </a:bodyPr>
          <a:lstStyle/>
          <a:p>
            <a:pPr algn="just"/>
            <a:r>
              <a:rPr lang="en-IN" sz="2400" b="1" dirty="0">
                <a:latin typeface="Arial" panose="020B0604020202020204" pitchFamily="34" charset="0"/>
                <a:cs typeface="Arial" panose="020B0604020202020204" pitchFamily="34" charset="0"/>
              </a:rPr>
              <a:t>Ethical Design</a:t>
            </a:r>
            <a:endParaRPr lang="en-IN" sz="2400" dirty="0">
              <a:latin typeface="Arial" panose="020B0604020202020204" pitchFamily="34" charset="0"/>
              <a:cs typeface="Arial" panose="020B0604020202020204" pitchFamily="34" charset="0"/>
            </a:endParaRPr>
          </a:p>
          <a:p>
            <a:pPr algn="just">
              <a:buFont typeface="Arial" panose="020B0604020202020204" pitchFamily="34" charset="0"/>
              <a:buChar char="•"/>
            </a:pPr>
            <a:r>
              <a:rPr lang="en-IN" sz="2000" dirty="0">
                <a:latin typeface="Arial" panose="020B0604020202020204" pitchFamily="34" charset="0"/>
                <a:cs typeface="Arial" panose="020B0604020202020204" pitchFamily="34" charset="0"/>
              </a:rPr>
              <a:t>Patient data stored only in browser session — no persistent server-side database</a:t>
            </a:r>
          </a:p>
          <a:p>
            <a:pPr algn="just">
              <a:buFont typeface="Arial" panose="020B0604020202020204" pitchFamily="34" charset="0"/>
              <a:buChar char="•"/>
            </a:pPr>
            <a:r>
              <a:rPr lang="en-IN" sz="2000" dirty="0">
                <a:latin typeface="Arial" panose="020B0604020202020204" pitchFamily="34" charset="0"/>
                <a:cs typeface="Arial" panose="020B0604020202020204" pitchFamily="34" charset="0"/>
              </a:rPr>
              <a:t>Reduces unauthorized access risk, but data doesn't survive session expiry</a:t>
            </a:r>
          </a:p>
          <a:p>
            <a:pPr algn="just">
              <a:lnSpc>
                <a:spcPct val="150000"/>
              </a:lnSpc>
              <a:buFont typeface="Arial" panose="020B0604020202020204" pitchFamily="34" charset="0"/>
              <a:buChar char="•"/>
            </a:pPr>
            <a:r>
              <a:rPr lang="en-IN" sz="2000" dirty="0">
                <a:latin typeface="Arial" panose="020B0604020202020204" pitchFamily="34" charset="0"/>
                <a:cs typeface="Arial" panose="020B0604020202020204" pitchFamily="34" charset="0"/>
              </a:rPr>
              <a:t>Care team portal uses role-based access to limit info to designated scope</a:t>
            </a:r>
          </a:p>
        </p:txBody>
      </p:sp>
      <p:sp>
        <p:nvSpPr>
          <p:cNvPr id="14" name="Rectangle 13">
            <a:extLst>
              <a:ext uri="{FF2B5EF4-FFF2-40B4-BE49-F238E27FC236}">
                <a16:creationId xmlns:a16="http://schemas.microsoft.com/office/drawing/2014/main" id="{4338CBBE-C787-4801-B396-D55DD4EB50C5}"/>
              </a:ext>
            </a:extLst>
          </p:cNvPr>
          <p:cNvSpPr/>
          <p:nvPr/>
        </p:nvSpPr>
        <p:spPr>
          <a:xfrm>
            <a:off x="447675" y="4615631"/>
            <a:ext cx="11239500" cy="2308324"/>
          </a:xfrm>
          <a:prstGeom prst="rect">
            <a:avLst/>
          </a:prstGeom>
        </p:spPr>
        <p:txBody>
          <a:bodyPr wrap="square">
            <a:spAutoFit/>
          </a:bodyPr>
          <a:lstStyle/>
          <a:p>
            <a:r>
              <a:rPr lang="en-US" sz="2400" b="1" dirty="0">
                <a:latin typeface="Arial" panose="020B0604020202020204" pitchFamily="34" charset="0"/>
                <a:cs typeface="Arial" panose="020B0604020202020204" pitchFamily="34" charset="0"/>
              </a:rPr>
              <a:t>Key Limitations</a:t>
            </a:r>
            <a:endParaRPr lang="en-US" sz="2400" dirty="0">
              <a:latin typeface="Arial" panose="020B0604020202020204" pitchFamily="34" charset="0"/>
              <a:cs typeface="Arial" panose="020B0604020202020204" pitchFamily="34" charset="0"/>
            </a:endParaRPr>
          </a:p>
          <a:p>
            <a:pPr algn="just">
              <a:buFont typeface="Arial" panose="020B0604020202020204" pitchFamily="34" charset="0"/>
              <a:buChar char="•"/>
            </a:pPr>
            <a:r>
              <a:rPr lang="en-US" sz="2000" dirty="0">
                <a:latin typeface="Arial" panose="020B0604020202020204" pitchFamily="34" charset="0"/>
                <a:cs typeface="Arial" panose="020B0604020202020204" pitchFamily="34" charset="0"/>
              </a:rPr>
              <a:t>Uses statistical simulator, not real wearable device data</a:t>
            </a:r>
          </a:p>
          <a:p>
            <a:pPr algn="just">
              <a:buFont typeface="Arial" panose="020B0604020202020204" pitchFamily="34" charset="0"/>
              <a:buChar char="•"/>
            </a:pPr>
            <a:r>
              <a:rPr lang="en-US" sz="2000" dirty="0">
                <a:latin typeface="Arial" panose="020B0604020202020204" pitchFamily="34" charset="0"/>
                <a:cs typeface="Arial" panose="020B0604020202020204" pitchFamily="34" charset="0"/>
              </a:rPr>
              <a:t>Simulator can't replicate inter-day variability, sensor artifacts, or patient-specific metabolic patterns</a:t>
            </a:r>
          </a:p>
          <a:p>
            <a:pPr algn="just">
              <a:buFont typeface="Arial" panose="020B0604020202020204" pitchFamily="34" charset="0"/>
              <a:buChar char="•"/>
            </a:pPr>
            <a:r>
              <a:rPr lang="en-US" sz="2000" dirty="0">
                <a:latin typeface="Arial" panose="020B0604020202020204" pitchFamily="34" charset="0"/>
                <a:cs typeface="Arial" panose="020B0604020202020204" pitchFamily="34" charset="0"/>
              </a:rPr>
              <a:t>Production deployment needs validated wearable hardware + FHIR-compliant pipelines</a:t>
            </a:r>
          </a:p>
          <a:p>
            <a:pPr algn="just">
              <a:buFont typeface="Arial" panose="020B0604020202020204" pitchFamily="34" charset="0"/>
              <a:buChar char="•"/>
            </a:pPr>
            <a:r>
              <a:rPr lang="en-US" sz="2000" dirty="0">
                <a:latin typeface="Arial" panose="020B0604020202020204" pitchFamily="34" charset="0"/>
                <a:cs typeface="Arial" panose="020B0604020202020204" pitchFamily="34" charset="0"/>
              </a:rPr>
              <a:t>In-memory chat history doesn't persist — no access to longitudinal conversation history across sessions</a:t>
            </a:r>
          </a:p>
        </p:txBody>
      </p:sp>
      <p:sp>
        <p:nvSpPr>
          <p:cNvPr id="15" name="TextBox 14">
            <a:extLst>
              <a:ext uri="{FF2B5EF4-FFF2-40B4-BE49-F238E27FC236}">
                <a16:creationId xmlns:a16="http://schemas.microsoft.com/office/drawing/2014/main" id="{28D31A9D-85EB-40D8-B50E-EC671CFF49E1}"/>
              </a:ext>
            </a:extLst>
          </p:cNvPr>
          <p:cNvSpPr txBox="1"/>
          <p:nvPr/>
        </p:nvSpPr>
        <p:spPr>
          <a:xfrm>
            <a:off x="1590675" y="135553"/>
            <a:ext cx="8953500" cy="523220"/>
          </a:xfrm>
          <a:prstGeom prst="rect">
            <a:avLst/>
          </a:prstGeom>
          <a:noFill/>
          <a:ln w="28575">
            <a:solidFill>
              <a:schemeClr val="tx1"/>
            </a:solidFill>
          </a:ln>
        </p:spPr>
        <p:txBody>
          <a:bodyPr wrap="square" rtlCol="0">
            <a:spAutoFit/>
          </a:bodyPr>
          <a:lstStyle/>
          <a:p>
            <a:pPr algn="ctr"/>
            <a:r>
              <a:rPr lang="en-IN" sz="2800" b="1" dirty="0">
                <a:latin typeface="Arial" panose="020B0604020202020204" pitchFamily="34" charset="0"/>
                <a:cs typeface="Arial" panose="020B0604020202020204" pitchFamily="34" charset="0"/>
              </a:rPr>
              <a:t>SAFETY,ETHICS and LIMITATIONS</a:t>
            </a:r>
          </a:p>
        </p:txBody>
      </p:sp>
    </p:spTree>
    <p:extLst>
      <p:ext uri="{BB962C8B-B14F-4D97-AF65-F5344CB8AC3E}">
        <p14:creationId xmlns:p14="http://schemas.microsoft.com/office/powerpoint/2010/main" val="1667959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E886737-6BE5-4CDC-8AF1-CA23A451735C}"/>
              </a:ext>
            </a:extLst>
          </p:cNvPr>
          <p:cNvSpPr/>
          <p:nvPr/>
        </p:nvSpPr>
        <p:spPr>
          <a:xfrm>
            <a:off x="581026" y="1182231"/>
            <a:ext cx="10791824" cy="4493538"/>
          </a:xfrm>
          <a:prstGeom prst="rect">
            <a:avLst/>
          </a:prstGeom>
          <a:ln w="28575">
            <a:solidFill>
              <a:schemeClr val="tx1"/>
            </a:solidFill>
          </a:ln>
        </p:spPr>
        <p:txBody>
          <a:bodyPr wrap="square">
            <a:spAutoFit/>
          </a:bodyPr>
          <a:lstStyle/>
          <a:p>
            <a:pPr algn="ctr"/>
            <a:r>
              <a:rPr lang="en-US" sz="2800" b="1" dirty="0">
                <a:solidFill>
                  <a:srgbClr val="1F2328"/>
                </a:solidFill>
                <a:latin typeface="-apple-system"/>
              </a:rPr>
              <a:t>Multilingual and Accessibility Support</a:t>
            </a:r>
          </a:p>
          <a:p>
            <a:endParaRPr lang="en-US" b="1" dirty="0">
              <a:solidFill>
                <a:srgbClr val="1F2328"/>
              </a:solidFill>
              <a:latin typeface="-apple-system"/>
            </a:endParaRPr>
          </a:p>
          <a:p>
            <a:pPr algn="just"/>
            <a:r>
              <a:rPr lang="en-US" sz="2000" dirty="0">
                <a:solidFill>
                  <a:srgbClr val="1F2328"/>
                </a:solidFill>
                <a:latin typeface="-apple-system"/>
              </a:rPr>
              <a:t>Chronic diseases disproportionately affect populations in low- and middle-income countries, many of which are linguistically diverse. A future version of </a:t>
            </a:r>
            <a:r>
              <a:rPr lang="en-US" sz="2000" dirty="0" err="1">
                <a:solidFill>
                  <a:srgbClr val="1F2328"/>
                </a:solidFill>
                <a:latin typeface="-apple-system"/>
              </a:rPr>
              <a:t>CareGuard</a:t>
            </a:r>
            <a:r>
              <a:rPr lang="en-US" sz="2000" dirty="0">
                <a:solidFill>
                  <a:srgbClr val="1F2328"/>
                </a:solidFill>
                <a:latin typeface="-apple-system"/>
              </a:rPr>
              <a:t> AI would introduce multilingual support using IBM </a:t>
            </a:r>
            <a:r>
              <a:rPr lang="en-US" sz="2000" dirty="0" err="1">
                <a:solidFill>
                  <a:srgbClr val="1F2328"/>
                </a:solidFill>
                <a:latin typeface="-apple-system"/>
              </a:rPr>
              <a:t>Watsonx.ai's</a:t>
            </a:r>
            <a:r>
              <a:rPr lang="en-US" sz="2000" dirty="0">
                <a:solidFill>
                  <a:srgbClr val="1F2328"/>
                </a:solidFill>
                <a:latin typeface="-apple-system"/>
              </a:rPr>
              <a:t> multilingual Granite models and Flask-Babel for interface </a:t>
            </a:r>
            <a:r>
              <a:rPr lang="en-US" sz="2000" dirty="0" err="1">
                <a:solidFill>
                  <a:srgbClr val="1F2328"/>
                </a:solidFill>
                <a:latin typeface="-apple-system"/>
              </a:rPr>
              <a:t>localisation</a:t>
            </a:r>
            <a:r>
              <a:rPr lang="en-US" sz="2000" dirty="0">
                <a:solidFill>
                  <a:srgbClr val="1F2328"/>
                </a:solidFill>
                <a:latin typeface="-apple-system"/>
              </a:rPr>
              <a:t>, enabling the application to serve patients in languages such as Hindi, Arabic, Spanish, French, Swahili, and Mandarin without requiring separate codebases. The AI chat agent, medication reminders, and emergency guidance would all be delivered in the patient's preferred language.</a:t>
            </a:r>
          </a:p>
          <a:p>
            <a:pPr algn="just"/>
            <a:endParaRPr lang="en-US" sz="2000" dirty="0">
              <a:solidFill>
                <a:srgbClr val="1F2328"/>
              </a:solidFill>
              <a:latin typeface="-apple-system"/>
            </a:endParaRPr>
          </a:p>
          <a:p>
            <a:pPr algn="just"/>
            <a:r>
              <a:rPr lang="en-US" sz="2000" dirty="0">
                <a:solidFill>
                  <a:srgbClr val="1F2328"/>
                </a:solidFill>
                <a:latin typeface="-apple-system"/>
              </a:rPr>
              <a:t>Accessibility improvements would ensure compliance with the Web Content Accessibility Guidelines (WCAG 2.1 AA standard), including sufficient </a:t>
            </a:r>
            <a:r>
              <a:rPr lang="en-US" sz="2000" dirty="0" err="1">
                <a:solidFill>
                  <a:srgbClr val="1F2328"/>
                </a:solidFill>
                <a:latin typeface="-apple-system"/>
              </a:rPr>
              <a:t>colour</a:t>
            </a:r>
            <a:r>
              <a:rPr lang="en-US" sz="2000" dirty="0">
                <a:solidFill>
                  <a:srgbClr val="1F2328"/>
                </a:solidFill>
                <a:latin typeface="-apple-system"/>
              </a:rPr>
              <a:t> contrast ratios in both light and dark themes, full keyboard navigability, screen-reader-compatible ARIA labels on all interactive elements, and voice input support for patients with limited fine motor control — a common co-morbidity in advanced diabetes and arthritis patients.</a:t>
            </a:r>
            <a:endParaRPr lang="en-US" sz="2000" b="0" i="0" dirty="0">
              <a:solidFill>
                <a:srgbClr val="1F2328"/>
              </a:solidFill>
              <a:effectLst/>
              <a:latin typeface="-apple-system"/>
            </a:endParaRPr>
          </a:p>
        </p:txBody>
      </p:sp>
    </p:spTree>
    <p:extLst>
      <p:ext uri="{BB962C8B-B14F-4D97-AF65-F5344CB8AC3E}">
        <p14:creationId xmlns:p14="http://schemas.microsoft.com/office/powerpoint/2010/main" val="344265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2838A26-9C2D-4E91-B7C0-EE0D8EC0955B}"/>
              </a:ext>
            </a:extLst>
          </p:cNvPr>
          <p:cNvSpPr txBox="1"/>
          <p:nvPr/>
        </p:nvSpPr>
        <p:spPr>
          <a:xfrm>
            <a:off x="981075" y="3038475"/>
            <a:ext cx="10229850" cy="523220"/>
          </a:xfrm>
          <a:prstGeom prst="rect">
            <a:avLst/>
          </a:prstGeom>
          <a:noFill/>
          <a:ln w="38100">
            <a:solidFill>
              <a:schemeClr val="tx1"/>
            </a:solidFill>
          </a:ln>
        </p:spPr>
        <p:txBody>
          <a:bodyPr wrap="square" rtlCol="0">
            <a:spAutoFit/>
          </a:bodyPr>
          <a:lstStyle/>
          <a:p>
            <a:r>
              <a:rPr lang="en-IN" sz="2800" dirty="0">
                <a:latin typeface="Arial" panose="020B0604020202020204" pitchFamily="34" charset="0"/>
                <a:cs typeface="Arial" panose="020B0604020202020204" pitchFamily="34" charset="0"/>
              </a:rPr>
              <a:t>GitHub Link: </a:t>
            </a:r>
            <a:r>
              <a:rPr lang="en-IN" sz="2400" dirty="0">
                <a:latin typeface="Arial" panose="020B0604020202020204" pitchFamily="34" charset="0"/>
                <a:cs typeface="Arial" panose="020B0604020202020204" pitchFamily="34" charset="0"/>
              </a:rPr>
              <a:t>https://github.com/pallodsanskruti-oss</a:t>
            </a:r>
            <a:r>
              <a:rPr lang="en-IN" sz="2400" dirty="0"/>
              <a:t>/ChroniDiseaseAgent</a:t>
            </a:r>
            <a:endParaRPr lang="en-IN" sz="2800" dirty="0"/>
          </a:p>
        </p:txBody>
      </p:sp>
    </p:spTree>
    <p:extLst>
      <p:ext uri="{BB962C8B-B14F-4D97-AF65-F5344CB8AC3E}">
        <p14:creationId xmlns:p14="http://schemas.microsoft.com/office/powerpoint/2010/main" val="1599113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0AB865-A48C-471D-99C2-E00C3D6CEC23}"/>
              </a:ext>
            </a:extLst>
          </p:cNvPr>
          <p:cNvPicPr>
            <a:picLocks noChangeAspect="1"/>
          </p:cNvPicPr>
          <p:nvPr/>
        </p:nvPicPr>
        <p:blipFill>
          <a:blip r:embed="rId2"/>
          <a:stretch>
            <a:fillRect/>
          </a:stretch>
        </p:blipFill>
        <p:spPr>
          <a:xfrm>
            <a:off x="2466805" y="968248"/>
            <a:ext cx="7534445" cy="5647204"/>
          </a:xfrm>
          <a:prstGeom prst="rect">
            <a:avLst/>
          </a:prstGeom>
        </p:spPr>
      </p:pic>
      <p:sp>
        <p:nvSpPr>
          <p:cNvPr id="3" name="TextBox 2">
            <a:extLst>
              <a:ext uri="{FF2B5EF4-FFF2-40B4-BE49-F238E27FC236}">
                <a16:creationId xmlns:a16="http://schemas.microsoft.com/office/drawing/2014/main" id="{94D397B3-AFE0-42FF-B1E3-72223110F94D}"/>
              </a:ext>
            </a:extLst>
          </p:cNvPr>
          <p:cNvSpPr txBox="1"/>
          <p:nvPr/>
        </p:nvSpPr>
        <p:spPr>
          <a:xfrm>
            <a:off x="1738227" y="270468"/>
            <a:ext cx="8991600" cy="523220"/>
          </a:xfrm>
          <a:prstGeom prst="rect">
            <a:avLst/>
          </a:prstGeom>
          <a:noFill/>
        </p:spPr>
        <p:txBody>
          <a:bodyPr wrap="square" rtlCol="0">
            <a:spAutoFit/>
          </a:bodyPr>
          <a:lstStyle/>
          <a:p>
            <a:pPr algn="ctr"/>
            <a:r>
              <a:rPr lang="en-IN" sz="2800" b="1" dirty="0"/>
              <a:t>Credly certificate for Getting Started with AI</a:t>
            </a:r>
          </a:p>
        </p:txBody>
      </p:sp>
    </p:spTree>
    <p:extLst>
      <p:ext uri="{BB962C8B-B14F-4D97-AF65-F5344CB8AC3E}">
        <p14:creationId xmlns:p14="http://schemas.microsoft.com/office/powerpoint/2010/main" val="736370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1B7373F-CF53-449D-8AE2-DD16153CB0E2}"/>
              </a:ext>
            </a:extLst>
          </p:cNvPr>
          <p:cNvPicPr>
            <a:picLocks noChangeAspect="1"/>
          </p:cNvPicPr>
          <p:nvPr/>
        </p:nvPicPr>
        <p:blipFill>
          <a:blip r:embed="rId2"/>
          <a:stretch>
            <a:fillRect/>
          </a:stretch>
        </p:blipFill>
        <p:spPr>
          <a:xfrm rot="5400000">
            <a:off x="3997059" y="193737"/>
            <a:ext cx="4635579" cy="732134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Box 6">
            <a:extLst>
              <a:ext uri="{FF2B5EF4-FFF2-40B4-BE49-F238E27FC236}">
                <a16:creationId xmlns:a16="http://schemas.microsoft.com/office/drawing/2014/main" id="{9718811F-1FFC-46F0-AF58-7205FE2270CA}"/>
              </a:ext>
            </a:extLst>
          </p:cNvPr>
          <p:cNvSpPr txBox="1"/>
          <p:nvPr/>
        </p:nvSpPr>
        <p:spPr>
          <a:xfrm>
            <a:off x="2286000" y="616238"/>
            <a:ext cx="8410575" cy="523220"/>
          </a:xfrm>
          <a:prstGeom prst="rect">
            <a:avLst/>
          </a:prstGeom>
          <a:noFill/>
        </p:spPr>
        <p:txBody>
          <a:bodyPr wrap="square" rtlCol="0">
            <a:spAutoFit/>
          </a:bodyPr>
          <a:lstStyle/>
          <a:p>
            <a:pPr algn="ctr"/>
            <a:r>
              <a:rPr lang="en-IN" sz="2800" b="1" dirty="0"/>
              <a:t>IBM BOB Troubleshoot certificate</a:t>
            </a:r>
          </a:p>
        </p:txBody>
      </p:sp>
    </p:spTree>
    <p:extLst>
      <p:ext uri="{BB962C8B-B14F-4D97-AF65-F5344CB8AC3E}">
        <p14:creationId xmlns:p14="http://schemas.microsoft.com/office/powerpoint/2010/main" val="16219949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AD3EC7-68A6-49F9-B6A2-9ED891B10989}"/>
              </a:ext>
            </a:extLst>
          </p:cNvPr>
          <p:cNvSpPr txBox="1"/>
          <p:nvPr/>
        </p:nvSpPr>
        <p:spPr>
          <a:xfrm>
            <a:off x="2162175" y="2905780"/>
            <a:ext cx="8010525" cy="523220"/>
          </a:xfrm>
          <a:prstGeom prst="rect">
            <a:avLst/>
          </a:prstGeom>
          <a:noFill/>
        </p:spPr>
        <p:txBody>
          <a:bodyPr wrap="square" rtlCol="0">
            <a:spAutoFit/>
          </a:bodyPr>
          <a:lstStyle/>
          <a:p>
            <a:pPr algn="ctr"/>
            <a:r>
              <a:rPr lang="en-IN" sz="2800" b="1" dirty="0">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30882807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232</TotalTime>
  <Words>1656</Words>
  <Application>Microsoft Office PowerPoint</Application>
  <PresentationFormat>Widescreen</PresentationFormat>
  <Paragraphs>98</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-apple-system</vt:lpstr>
      <vt:lpstr>Arial</vt:lpstr>
      <vt:lpstr>Calibri</vt:lpstr>
      <vt:lpstr>Calibri Light</vt:lpstr>
      <vt:lpstr>Office Theme</vt:lpstr>
      <vt:lpstr>  IBM University Engagement Project Submission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IBM University Engagement Project Submission</dc:title>
  <dc:creator>Admin</dc:creator>
  <cp:lastModifiedBy>Admin</cp:lastModifiedBy>
  <cp:revision>51</cp:revision>
  <dcterms:created xsi:type="dcterms:W3CDTF">2026-07-09T17:26:31Z</dcterms:created>
  <dcterms:modified xsi:type="dcterms:W3CDTF">2026-07-12T19:03:16Z</dcterms:modified>
</cp:coreProperties>
</file>